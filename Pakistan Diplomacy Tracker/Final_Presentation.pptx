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0" d="100"/>
          <a:sy n="130" d="100"/>
        </p:scale>
        <p:origin x="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Avg Gold Price ($)</c:v>
                </c:pt>
              </c:strCache>
            </c:strRef>
          </c:tx>
          <c:spPr>
            <a:solidFill>
              <a:srgbClr val="D4A017"/>
            </a:solidFill>
            <a:effectLst/>
          </c:spPr>
          <c:invertIfNegative val="0"/>
          <c:cat>
            <c:strRef>
              <c:f>Sheet1!$A$2:$A$10</c:f>
              <c:strCache>
                <c:ptCount val="9"/>
                <c:pt idx="0">
                  <c:v>2018</c:v>
                </c:pt>
                <c:pt idx="1">
                  <c:v>2019</c:v>
                </c:pt>
                <c:pt idx="2">
                  <c:v>2020</c:v>
                </c:pt>
                <c:pt idx="3">
                  <c:v>2021</c:v>
                </c:pt>
                <c:pt idx="4">
                  <c:v>2022</c:v>
                </c:pt>
                <c:pt idx="5">
                  <c:v>2023</c:v>
                </c:pt>
                <c:pt idx="6">
                  <c:v>2024</c:v>
                </c:pt>
                <c:pt idx="7">
                  <c:v>2025</c:v>
                </c:pt>
                <c:pt idx="8">
                  <c:v>2026</c:v>
                </c:pt>
              </c:strCache>
            </c:strRef>
          </c:cat>
          <c:val>
            <c:numRef>
              <c:f>Sheet1!$B$2:$B$10</c:f>
              <c:numCache>
                <c:formatCode>General</c:formatCode>
                <c:ptCount val="9"/>
                <c:pt idx="0">
                  <c:v>1268</c:v>
                </c:pt>
                <c:pt idx="1">
                  <c:v>1393</c:v>
                </c:pt>
                <c:pt idx="2">
                  <c:v>1770</c:v>
                </c:pt>
                <c:pt idx="3">
                  <c:v>1799</c:v>
                </c:pt>
                <c:pt idx="4">
                  <c:v>1800</c:v>
                </c:pt>
                <c:pt idx="5">
                  <c:v>1940</c:v>
                </c:pt>
                <c:pt idx="6">
                  <c:v>2390</c:v>
                </c:pt>
                <c:pt idx="7">
                  <c:v>2700</c:v>
                </c:pt>
                <c:pt idx="8">
                  <c:v>4750</c:v>
                </c:pt>
              </c:numCache>
            </c:numRef>
          </c:val>
          <c:extLst>
            <c:ext xmlns:c16="http://schemas.microsoft.com/office/drawing/2014/chart" uri="{C3380CC4-5D6E-409C-BE32-E72D297353CC}">
              <c16:uniqueId val="{00000000-CF7D-472D-B8F5-B077EEAD0C9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Petrol Price</c:v>
                </c:pt>
              </c:strCache>
            </c:strRef>
          </c:tx>
          <c:spPr>
            <a:ln w="31750" cap="flat">
              <a:solidFill>
                <a:srgbClr val="2E86C1"/>
              </a:solidFill>
              <a:prstDash val="solid"/>
              <a:round/>
            </a:ln>
            <a:effectLst/>
          </c:spPr>
          <c:marker>
            <c:symbol val="circle"/>
            <c:size val="6"/>
            <c:spPr>
              <a:solidFill>
                <a:srgbClr val="2E86C1"/>
              </a:solidFill>
              <a:ln w="9525" cap="flat">
                <a:solidFill>
                  <a:srgbClr val="2E86C1"/>
                </a:solidFill>
                <a:prstDash val="solid"/>
                <a:round/>
              </a:ln>
              <a:effectLst/>
            </c:spPr>
          </c:marker>
          <c:cat>
            <c:strRef>
              <c:f>Sheet1!$A$2:$A$9</c:f>
              <c:strCache>
                <c:ptCount val="8"/>
                <c:pt idx="0">
                  <c:v>2018</c:v>
                </c:pt>
                <c:pt idx="1">
                  <c:v>2019</c:v>
                </c:pt>
                <c:pt idx="2">
                  <c:v>2020</c:v>
                </c:pt>
                <c:pt idx="3">
                  <c:v>2021</c:v>
                </c:pt>
                <c:pt idx="4">
                  <c:v>2022</c:v>
                </c:pt>
                <c:pt idx="5">
                  <c:v>2023</c:v>
                </c:pt>
                <c:pt idx="6">
                  <c:v>2024</c:v>
                </c:pt>
                <c:pt idx="7">
                  <c:v>2025</c:v>
                </c:pt>
              </c:strCache>
            </c:strRef>
          </c:cat>
          <c:val>
            <c:numRef>
              <c:f>Sheet1!$B$2:$B$9</c:f>
              <c:numCache>
                <c:formatCode>General</c:formatCode>
                <c:ptCount val="8"/>
                <c:pt idx="0">
                  <c:v>100</c:v>
                </c:pt>
                <c:pt idx="1">
                  <c:v>110</c:v>
                </c:pt>
                <c:pt idx="2">
                  <c:v>90</c:v>
                </c:pt>
                <c:pt idx="3">
                  <c:v>115</c:v>
                </c:pt>
                <c:pt idx="4">
                  <c:v>180</c:v>
                </c:pt>
                <c:pt idx="5">
                  <c:v>220</c:v>
                </c:pt>
                <c:pt idx="6">
                  <c:v>270</c:v>
                </c:pt>
                <c:pt idx="7">
                  <c:v>265</c:v>
                </c:pt>
              </c:numCache>
            </c:numRef>
          </c:val>
          <c:smooth val="1"/>
          <c:extLst>
            <c:ext xmlns:c16="http://schemas.microsoft.com/office/drawing/2014/chart" uri="{C3380CC4-5D6E-409C-BE32-E72D297353CC}">
              <c16:uniqueId val="{00000000-A3A6-4AC1-9430-B388D0476120}"/>
            </c:ext>
          </c:extLst>
        </c:ser>
        <c:ser>
          <c:idx val="1"/>
          <c:order val="1"/>
          <c:tx>
            <c:strRef>
              <c:f>Sheet1!$C$1</c:f>
              <c:strCache>
                <c:ptCount val="1"/>
                <c:pt idx="0">
                  <c:v>Tension Proxy (inverted)</c:v>
                </c:pt>
              </c:strCache>
            </c:strRef>
          </c:tx>
          <c:spPr>
            <a:ln w="31750" cap="flat">
              <a:solidFill>
                <a:srgbClr val="D4A017"/>
              </a:solidFill>
              <a:prstDash val="solid"/>
              <a:round/>
            </a:ln>
            <a:effectLst/>
          </c:spPr>
          <c:marker>
            <c:symbol val="circle"/>
            <c:size val="6"/>
            <c:spPr>
              <a:solidFill>
                <a:srgbClr val="D4A017"/>
              </a:solidFill>
              <a:ln w="9525" cap="flat">
                <a:solidFill>
                  <a:srgbClr val="D4A017"/>
                </a:solidFill>
                <a:prstDash val="solid"/>
                <a:round/>
              </a:ln>
              <a:effectLst/>
            </c:spPr>
          </c:marker>
          <c:cat>
            <c:strRef>
              <c:f>Sheet1!$A$2:$A$9</c:f>
              <c:strCache>
                <c:ptCount val="8"/>
                <c:pt idx="0">
                  <c:v>2018</c:v>
                </c:pt>
                <c:pt idx="1">
                  <c:v>2019</c:v>
                </c:pt>
                <c:pt idx="2">
                  <c:v>2020</c:v>
                </c:pt>
                <c:pt idx="3">
                  <c:v>2021</c:v>
                </c:pt>
                <c:pt idx="4">
                  <c:v>2022</c:v>
                </c:pt>
                <c:pt idx="5">
                  <c:v>2023</c:v>
                </c:pt>
                <c:pt idx="6">
                  <c:v>2024</c:v>
                </c:pt>
                <c:pt idx="7">
                  <c:v>2025</c:v>
                </c:pt>
              </c:strCache>
            </c:strRef>
          </c:cat>
          <c:val>
            <c:numRef>
              <c:f>Sheet1!$C$2:$C$9</c:f>
              <c:numCache>
                <c:formatCode>General</c:formatCode>
                <c:ptCount val="8"/>
                <c:pt idx="0">
                  <c:v>1.5</c:v>
                </c:pt>
                <c:pt idx="1">
                  <c:v>1.2</c:v>
                </c:pt>
                <c:pt idx="2">
                  <c:v>1</c:v>
                </c:pt>
                <c:pt idx="3">
                  <c:v>0.8</c:v>
                </c:pt>
                <c:pt idx="4">
                  <c:v>0.9</c:v>
                </c:pt>
                <c:pt idx="5">
                  <c:v>1.1000000000000001</c:v>
                </c:pt>
                <c:pt idx="6">
                  <c:v>1.8</c:v>
                </c:pt>
                <c:pt idx="7">
                  <c:v>0.8</c:v>
                </c:pt>
              </c:numCache>
            </c:numRef>
          </c:val>
          <c:smooth val="1"/>
          <c:extLst>
            <c:ext xmlns:c16="http://schemas.microsoft.com/office/drawing/2014/chart" uri="{C3380CC4-5D6E-409C-BE32-E72D297353CC}">
              <c16:uniqueId val="{00000001-A3A6-4AC1-9430-B388D047612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2225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217920" y="-731520"/>
            <a:ext cx="4754880" cy="4754880"/>
          </a:xfrm>
          <a:prstGeom prst="ellipse">
            <a:avLst/>
          </a:prstGeom>
          <a:solidFill>
            <a:srgbClr val="162340"/>
          </a:solidFill>
          <a:ln w="12700">
            <a:solidFill>
              <a:srgbClr val="162340"/>
            </a:solidFill>
            <a:prstDash val="solid"/>
          </a:ln>
        </p:spPr>
        <p:txBody>
          <a:bodyPr/>
          <a:lstStyle/>
          <a:p>
            <a:endParaRPr lang="en-US"/>
          </a:p>
        </p:txBody>
      </p:sp>
      <p:sp>
        <p:nvSpPr>
          <p:cNvPr id="3" name="Shape 1"/>
          <p:cNvSpPr/>
          <p:nvPr/>
        </p:nvSpPr>
        <p:spPr>
          <a:xfrm>
            <a:off x="6583680" y="-365760"/>
            <a:ext cx="4023360" cy="4023360"/>
          </a:xfrm>
          <a:prstGeom prst="ellipse">
            <a:avLst/>
          </a:prstGeom>
          <a:solidFill>
            <a:srgbClr val="1A2E50"/>
          </a:solidFill>
          <a:ln w="12700">
            <a:solidFill>
              <a:srgbClr val="1A2E50"/>
            </a:solidFill>
            <a:prstDash val="solid"/>
          </a:ln>
        </p:spPr>
        <p:txBody>
          <a:bodyPr/>
          <a:lstStyle/>
          <a:p>
            <a:endParaRPr lang="en-US"/>
          </a:p>
        </p:txBody>
      </p:sp>
      <p:sp>
        <p:nvSpPr>
          <p:cNvPr id="4" name="Text 2"/>
          <p:cNvSpPr/>
          <p:nvPr/>
        </p:nvSpPr>
        <p:spPr>
          <a:xfrm>
            <a:off x="457200" y="347472"/>
            <a:ext cx="8229600" cy="256032"/>
          </a:xfrm>
          <a:prstGeom prst="rect">
            <a:avLst/>
          </a:prstGeom>
          <a:noFill/>
          <a:ln/>
        </p:spPr>
        <p:txBody>
          <a:bodyPr wrap="square" rtlCol="0" anchor="ctr"/>
          <a:lstStyle/>
          <a:p>
            <a:pPr marL="0" indent="0" algn="l">
              <a:buNone/>
            </a:pPr>
            <a:r>
              <a:rPr lang="en-US" sz="850" b="1" kern="0" spc="350" dirty="0">
                <a:solidFill>
                  <a:srgbClr val="D4A017"/>
                </a:solidFill>
                <a:latin typeface="Calibri" pitchFamily="34" charset="0"/>
                <a:ea typeface="Calibri" pitchFamily="34" charset="-122"/>
                <a:cs typeface="Calibri" pitchFamily="34" charset="-120"/>
              </a:rPr>
              <a:t>BUSINESS INTELLIGENCE  ·  IBA KARACHI  ·  2026</a:t>
            </a:r>
            <a:endParaRPr lang="en-US" sz="850" dirty="0"/>
          </a:p>
        </p:txBody>
      </p:sp>
      <p:sp>
        <p:nvSpPr>
          <p:cNvPr id="5" name="Text 3"/>
          <p:cNvSpPr/>
          <p:nvPr/>
        </p:nvSpPr>
        <p:spPr>
          <a:xfrm>
            <a:off x="457200" y="749808"/>
            <a:ext cx="5943600" cy="2560320"/>
          </a:xfrm>
          <a:prstGeom prst="rect">
            <a:avLst/>
          </a:prstGeom>
          <a:noFill/>
          <a:ln/>
        </p:spPr>
        <p:txBody>
          <a:bodyPr wrap="square" rtlCol="0" anchor="ctr"/>
          <a:lstStyle/>
          <a:p>
            <a:pPr marL="0" indent="0" algn="l">
              <a:lnSpc>
                <a:spcPct val="110000"/>
              </a:lnSpc>
              <a:buNone/>
            </a:pPr>
            <a:r>
              <a:rPr lang="en-US" sz="4600" b="1" dirty="0">
                <a:solidFill>
                  <a:srgbClr val="FFFFFF"/>
                </a:solidFill>
                <a:latin typeface="Georgia" pitchFamily="34" charset="0"/>
                <a:ea typeface="Georgia" pitchFamily="34" charset="-122"/>
                <a:cs typeface="Georgia" pitchFamily="34" charset="-120"/>
              </a:rPr>
              <a:t>Could We Have</a:t>
            </a:r>
            <a:endParaRPr lang="en-US" sz="4600" dirty="0"/>
          </a:p>
          <a:p>
            <a:pPr marL="0" indent="0" algn="l">
              <a:lnSpc>
                <a:spcPct val="110000"/>
              </a:lnSpc>
              <a:buNone/>
            </a:pPr>
            <a:r>
              <a:rPr lang="en-US" sz="4600" b="1" dirty="0">
                <a:solidFill>
                  <a:srgbClr val="FFFFFF"/>
                </a:solidFill>
                <a:latin typeface="Georgia" pitchFamily="34" charset="0"/>
                <a:ea typeface="Georgia" pitchFamily="34" charset="-122"/>
                <a:cs typeface="Georgia" pitchFamily="34" charset="-120"/>
              </a:rPr>
              <a:t>Predicted the</a:t>
            </a:r>
            <a:endParaRPr lang="en-US" sz="4600" dirty="0"/>
          </a:p>
          <a:p>
            <a:pPr marL="0" indent="0" algn="l">
              <a:lnSpc>
                <a:spcPct val="110000"/>
              </a:lnSpc>
              <a:buNone/>
            </a:pPr>
            <a:r>
              <a:rPr lang="en-US" sz="4600" b="1" dirty="0">
                <a:solidFill>
                  <a:srgbClr val="FFFFFF"/>
                </a:solidFill>
                <a:latin typeface="Georgia" pitchFamily="34" charset="0"/>
                <a:ea typeface="Georgia" pitchFamily="34" charset="-122"/>
                <a:cs typeface="Georgia" pitchFamily="34" charset="-120"/>
              </a:rPr>
              <a:t>US–Iran Conflict?</a:t>
            </a:r>
            <a:endParaRPr lang="en-US" sz="4600" dirty="0"/>
          </a:p>
        </p:txBody>
      </p:sp>
      <p:sp>
        <p:nvSpPr>
          <p:cNvPr id="6" name="Text 4"/>
          <p:cNvSpPr/>
          <p:nvPr/>
        </p:nvSpPr>
        <p:spPr>
          <a:xfrm>
            <a:off x="457200" y="3429000"/>
            <a:ext cx="5943600" cy="640080"/>
          </a:xfrm>
          <a:prstGeom prst="rect">
            <a:avLst/>
          </a:prstGeom>
          <a:noFill/>
          <a:ln/>
        </p:spPr>
        <p:txBody>
          <a:bodyPr wrap="square" rtlCol="0" anchor="ctr"/>
          <a:lstStyle/>
          <a:p>
            <a:pPr marL="0" indent="0" algn="l">
              <a:buNone/>
            </a:pPr>
            <a:r>
              <a:rPr lang="en-US" sz="1300" i="1" dirty="0">
                <a:solidFill>
                  <a:srgbClr val="8FA8C0"/>
                </a:solidFill>
                <a:latin typeface="Calibri" pitchFamily="34" charset="0"/>
                <a:ea typeface="Calibri" pitchFamily="34" charset="-122"/>
                <a:cs typeface="Calibri" pitchFamily="34" charset="-120"/>
              </a:rPr>
              <a:t>Pakistan's diplomatic tone signals as a leading indicator</a:t>
            </a:r>
            <a:endParaRPr lang="en-US" sz="1300" dirty="0"/>
          </a:p>
          <a:p>
            <a:pPr marL="0" indent="0" algn="l">
              <a:buNone/>
            </a:pPr>
            <a:r>
              <a:rPr lang="en-US" sz="1300" i="1" dirty="0">
                <a:solidFill>
                  <a:srgbClr val="8FA8C0"/>
                </a:solidFill>
                <a:latin typeface="Calibri" pitchFamily="34" charset="0"/>
                <a:ea typeface="Calibri" pitchFamily="34" charset="-122"/>
                <a:cs typeface="Calibri" pitchFamily="34" charset="-120"/>
              </a:rPr>
              <a:t>of interstate escalation — a GDELT-based early warning study</a:t>
            </a:r>
            <a:endParaRPr lang="en-US" sz="1300" dirty="0"/>
          </a:p>
        </p:txBody>
      </p:sp>
      <p:sp>
        <p:nvSpPr>
          <p:cNvPr id="7" name="Shape 5"/>
          <p:cNvSpPr/>
          <p:nvPr/>
        </p:nvSpPr>
        <p:spPr>
          <a:xfrm>
            <a:off x="457200" y="4160520"/>
            <a:ext cx="2286000" cy="0"/>
          </a:xfrm>
          <a:prstGeom prst="line">
            <a:avLst/>
          </a:prstGeom>
          <a:noFill/>
          <a:ln w="19050">
            <a:solidFill>
              <a:srgbClr val="D4A017"/>
            </a:solidFill>
            <a:prstDash val="solid"/>
          </a:ln>
        </p:spPr>
        <p:txBody>
          <a:bodyPr/>
          <a:lstStyle/>
          <a:p>
            <a:endParaRPr lang="en-US"/>
          </a:p>
        </p:txBody>
      </p:sp>
      <p:sp>
        <p:nvSpPr>
          <p:cNvPr id="8" name="Text 6"/>
          <p:cNvSpPr/>
          <p:nvPr/>
        </p:nvSpPr>
        <p:spPr>
          <a:xfrm>
            <a:off x="457200" y="4315968"/>
            <a:ext cx="548640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Dua Ali Ansari  ·  Hafsa Tanveer</a:t>
            </a:r>
            <a:endParaRPr lang="en-US" sz="1100" dirty="0"/>
          </a:p>
        </p:txBody>
      </p:sp>
      <p:sp>
        <p:nvSpPr>
          <p:cNvPr id="9" name="Text 7"/>
          <p:cNvSpPr/>
          <p:nvPr/>
        </p:nvSpPr>
        <p:spPr>
          <a:xfrm>
            <a:off x="457200" y="4590288"/>
            <a:ext cx="6400800" cy="228600"/>
          </a:xfrm>
          <a:prstGeom prst="rect">
            <a:avLst/>
          </a:prstGeom>
          <a:noFill/>
          <a:ln/>
        </p:spPr>
        <p:txBody>
          <a:bodyPr wrap="square" rtlCol="0" anchor="ctr"/>
          <a:lstStyle/>
          <a:p>
            <a:pPr marL="0" indent="0">
              <a:buNone/>
            </a:pPr>
            <a:r>
              <a:rPr lang="en-US" sz="1000" dirty="0">
                <a:solidFill>
                  <a:srgbClr val="8FA8C0"/>
                </a:solidFill>
                <a:latin typeface="Calibri" pitchFamily="34" charset="0"/>
                <a:ea typeface="Calibri" pitchFamily="34" charset="-122"/>
                <a:cs typeface="Calibri" pitchFamily="34" charset="-120"/>
              </a:rPr>
              <a:t>Department of Computer Science, Institute of Business Administration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THE CONTEXT</a:t>
            </a:r>
            <a:endParaRPr lang="en-US" sz="900" dirty="0"/>
          </a:p>
        </p:txBody>
      </p:sp>
      <p:sp>
        <p:nvSpPr>
          <p:cNvPr id="3" name="Text 1"/>
          <p:cNvSpPr/>
          <p:nvPr/>
        </p:nvSpPr>
        <p:spPr>
          <a:xfrm>
            <a:off x="457200" y="502920"/>
            <a:ext cx="8229600" cy="731520"/>
          </a:xfrm>
          <a:prstGeom prst="rect">
            <a:avLst/>
          </a:prstGeom>
          <a:noFill/>
          <a:ln/>
        </p:spPr>
        <p:txBody>
          <a:bodyPr wrap="square"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A Crisis Decades in the Making</a:t>
            </a:r>
            <a:endParaRPr lang="en-US" sz="3600" dirty="0"/>
          </a:p>
        </p:txBody>
      </p:sp>
      <p:sp>
        <p:nvSpPr>
          <p:cNvPr id="4" name="Text 2"/>
          <p:cNvSpPr/>
          <p:nvPr/>
        </p:nvSpPr>
        <p:spPr>
          <a:xfrm>
            <a:off x="457200" y="1325880"/>
            <a:ext cx="8229600" cy="411480"/>
          </a:xfrm>
          <a:prstGeom prst="rect">
            <a:avLst/>
          </a:prstGeom>
          <a:noFill/>
          <a:ln/>
        </p:spPr>
        <p:txBody>
          <a:bodyPr wrap="square" rtlCol="0" anchor="ctr"/>
          <a:lstStyle/>
          <a:p>
            <a:pPr marL="0" indent="0" algn="l">
              <a:buNone/>
            </a:pPr>
            <a:r>
              <a:rPr lang="en-US" sz="1500" i="1" dirty="0">
                <a:solidFill>
                  <a:srgbClr val="8FA8C0"/>
                </a:solidFill>
                <a:latin typeface="Calibri" pitchFamily="34" charset="0"/>
                <a:ea typeface="Calibri" pitchFamily="34" charset="-122"/>
                <a:cs typeface="Calibri" pitchFamily="34" charset="-120"/>
              </a:rPr>
              <a:t>The 2026 US–Iran war did not begin in 2026.</a:t>
            </a:r>
            <a:endParaRPr lang="en-US" sz="1500" dirty="0"/>
          </a:p>
        </p:txBody>
      </p:sp>
      <p:sp>
        <p:nvSpPr>
          <p:cNvPr id="5" name="Shape 3"/>
          <p:cNvSpPr/>
          <p:nvPr/>
        </p:nvSpPr>
        <p:spPr>
          <a:xfrm>
            <a:off x="384048" y="2286000"/>
            <a:ext cx="8321040" cy="0"/>
          </a:xfrm>
          <a:prstGeom prst="line">
            <a:avLst/>
          </a:prstGeom>
          <a:noFill/>
          <a:ln w="19050">
            <a:solidFill>
              <a:srgbClr val="1A3A5C"/>
            </a:solidFill>
            <a:prstDash val="solid"/>
          </a:ln>
        </p:spPr>
        <p:txBody>
          <a:bodyPr/>
          <a:lstStyle/>
          <a:p>
            <a:endParaRPr lang="en-US"/>
          </a:p>
        </p:txBody>
      </p:sp>
      <p:sp>
        <p:nvSpPr>
          <p:cNvPr id="6" name="Shape 4"/>
          <p:cNvSpPr/>
          <p:nvPr/>
        </p:nvSpPr>
        <p:spPr>
          <a:xfrm>
            <a:off x="274320" y="2148840"/>
            <a:ext cx="274320" cy="274320"/>
          </a:xfrm>
          <a:prstGeom prst="ellipse">
            <a:avLst/>
          </a:prstGeom>
          <a:solidFill>
            <a:srgbClr val="1E5F8C"/>
          </a:solidFill>
          <a:ln w="12700">
            <a:solidFill>
              <a:srgbClr val="1E5F8C"/>
            </a:solidFill>
            <a:prstDash val="solid"/>
          </a:ln>
        </p:spPr>
        <p:txBody>
          <a:bodyPr/>
          <a:lstStyle/>
          <a:p>
            <a:endParaRPr lang="en-US"/>
          </a:p>
        </p:txBody>
      </p:sp>
      <p:sp>
        <p:nvSpPr>
          <p:cNvPr id="7" name="Text 5"/>
          <p:cNvSpPr/>
          <p:nvPr/>
        </p:nvSpPr>
        <p:spPr>
          <a:xfrm>
            <a:off x="-27432" y="1828800"/>
            <a:ext cx="1188720" cy="274320"/>
          </a:xfrm>
          <a:prstGeom prst="rect">
            <a:avLst/>
          </a:prstGeom>
          <a:noFill/>
          <a:ln/>
        </p:spPr>
        <p:txBody>
          <a:bodyPr wrap="square" rtlCol="0" anchor="ctr"/>
          <a:lstStyle/>
          <a:p>
            <a:pPr marL="0" indent="0" algn="ctr">
              <a:buNone/>
            </a:pPr>
            <a:r>
              <a:rPr lang="en-US" sz="1000" b="1" dirty="0">
                <a:solidFill>
                  <a:srgbClr val="8FA8C0"/>
                </a:solidFill>
                <a:latin typeface="Calibri" pitchFamily="34" charset="0"/>
                <a:ea typeface="Calibri" pitchFamily="34" charset="-122"/>
                <a:cs typeface="Calibri" pitchFamily="34" charset="-120"/>
              </a:rPr>
              <a:t>1953</a:t>
            </a:r>
            <a:endParaRPr lang="en-US" sz="1000" dirty="0"/>
          </a:p>
        </p:txBody>
      </p:sp>
      <p:sp>
        <p:nvSpPr>
          <p:cNvPr id="8" name="Text 6"/>
          <p:cNvSpPr/>
          <p:nvPr/>
        </p:nvSpPr>
        <p:spPr>
          <a:xfrm>
            <a:off x="-118872" y="2514600"/>
            <a:ext cx="1280160" cy="594360"/>
          </a:xfrm>
          <a:prstGeom prst="rect">
            <a:avLst/>
          </a:prstGeom>
          <a:noFill/>
          <a:ln/>
        </p:spPr>
        <p:txBody>
          <a:bodyPr wrap="square" rtlCol="0" anchor="ctr"/>
          <a:lstStyle/>
          <a:p>
            <a:pPr marL="0" indent="0" algn="ctr">
              <a:buNone/>
            </a:pPr>
            <a:r>
              <a:rPr lang="en-US" sz="950" dirty="0">
                <a:solidFill>
                  <a:srgbClr val="E8EDF2"/>
                </a:solidFill>
                <a:latin typeface="Calibri" pitchFamily="34" charset="0"/>
                <a:ea typeface="Calibri" pitchFamily="34" charset="-122"/>
                <a:cs typeface="Calibri" pitchFamily="34" charset="-120"/>
              </a:rPr>
              <a:t>CIA-backed coup ousts</a:t>
            </a:r>
            <a:endParaRPr lang="en-US" sz="950" dirty="0"/>
          </a:p>
          <a:p>
            <a:pPr marL="0" indent="0" algn="ctr">
              <a:buNone/>
            </a:pPr>
            <a:r>
              <a:rPr lang="en-US" sz="950" dirty="0">
                <a:solidFill>
                  <a:srgbClr val="E8EDF2"/>
                </a:solidFill>
                <a:latin typeface="Calibri" pitchFamily="34" charset="0"/>
                <a:ea typeface="Calibri" pitchFamily="34" charset="-122"/>
                <a:cs typeface="Calibri" pitchFamily="34" charset="-120"/>
              </a:rPr>
              <a:t>Iran's elected government</a:t>
            </a:r>
            <a:endParaRPr lang="en-US" sz="950" dirty="0"/>
          </a:p>
        </p:txBody>
      </p:sp>
      <p:sp>
        <p:nvSpPr>
          <p:cNvPr id="9" name="Shape 7"/>
          <p:cNvSpPr/>
          <p:nvPr/>
        </p:nvSpPr>
        <p:spPr>
          <a:xfrm>
            <a:off x="1664208" y="2148840"/>
            <a:ext cx="274320" cy="274320"/>
          </a:xfrm>
          <a:prstGeom prst="ellipse">
            <a:avLst/>
          </a:prstGeom>
          <a:solidFill>
            <a:srgbClr val="1E5F8C"/>
          </a:solidFill>
          <a:ln w="12700">
            <a:solidFill>
              <a:srgbClr val="1E5F8C"/>
            </a:solidFill>
            <a:prstDash val="solid"/>
          </a:ln>
        </p:spPr>
        <p:txBody>
          <a:bodyPr/>
          <a:lstStyle/>
          <a:p>
            <a:endParaRPr lang="en-US"/>
          </a:p>
        </p:txBody>
      </p:sp>
      <p:sp>
        <p:nvSpPr>
          <p:cNvPr id="10" name="Text 8"/>
          <p:cNvSpPr/>
          <p:nvPr/>
        </p:nvSpPr>
        <p:spPr>
          <a:xfrm>
            <a:off x="1362456" y="1828800"/>
            <a:ext cx="1188720" cy="274320"/>
          </a:xfrm>
          <a:prstGeom prst="rect">
            <a:avLst/>
          </a:prstGeom>
          <a:noFill/>
          <a:ln/>
        </p:spPr>
        <p:txBody>
          <a:bodyPr wrap="square" rtlCol="0" anchor="ctr"/>
          <a:lstStyle/>
          <a:p>
            <a:pPr marL="0" indent="0" algn="ctr">
              <a:buNone/>
            </a:pPr>
            <a:r>
              <a:rPr lang="en-US" sz="1000" b="1" dirty="0">
                <a:solidFill>
                  <a:srgbClr val="8FA8C0"/>
                </a:solidFill>
                <a:latin typeface="Calibri" pitchFamily="34" charset="0"/>
                <a:ea typeface="Calibri" pitchFamily="34" charset="-122"/>
                <a:cs typeface="Calibri" pitchFamily="34" charset="-120"/>
              </a:rPr>
              <a:t>1979</a:t>
            </a:r>
            <a:endParaRPr lang="en-US" sz="1000" dirty="0"/>
          </a:p>
        </p:txBody>
      </p:sp>
      <p:sp>
        <p:nvSpPr>
          <p:cNvPr id="11" name="Text 9"/>
          <p:cNvSpPr/>
          <p:nvPr/>
        </p:nvSpPr>
        <p:spPr>
          <a:xfrm>
            <a:off x="1271016" y="2514600"/>
            <a:ext cx="1280160" cy="594360"/>
          </a:xfrm>
          <a:prstGeom prst="rect">
            <a:avLst/>
          </a:prstGeom>
          <a:noFill/>
          <a:ln/>
        </p:spPr>
        <p:txBody>
          <a:bodyPr wrap="square" rtlCol="0" anchor="ctr"/>
          <a:lstStyle/>
          <a:p>
            <a:pPr marL="0" indent="0" algn="ctr">
              <a:buNone/>
            </a:pPr>
            <a:r>
              <a:rPr lang="en-US" sz="950" dirty="0">
                <a:solidFill>
                  <a:srgbClr val="E8EDF2"/>
                </a:solidFill>
                <a:latin typeface="Calibri" pitchFamily="34" charset="0"/>
                <a:ea typeface="Calibri" pitchFamily="34" charset="-122"/>
                <a:cs typeface="Calibri" pitchFamily="34" charset="-120"/>
              </a:rPr>
              <a:t>Islamic Revolution — Iran</a:t>
            </a:r>
            <a:endParaRPr lang="en-US" sz="950" dirty="0"/>
          </a:p>
          <a:p>
            <a:pPr marL="0" indent="0" algn="ctr">
              <a:buNone/>
            </a:pPr>
            <a:r>
              <a:rPr lang="en-US" sz="950" dirty="0">
                <a:solidFill>
                  <a:srgbClr val="E8EDF2"/>
                </a:solidFill>
                <a:latin typeface="Calibri" pitchFamily="34" charset="0"/>
                <a:ea typeface="Calibri" pitchFamily="34" charset="-122"/>
                <a:cs typeface="Calibri" pitchFamily="34" charset="-120"/>
              </a:rPr>
              <a:t>positions against Western influence</a:t>
            </a:r>
            <a:endParaRPr lang="en-US" sz="950" dirty="0"/>
          </a:p>
        </p:txBody>
      </p:sp>
      <p:sp>
        <p:nvSpPr>
          <p:cNvPr id="12" name="Shape 10"/>
          <p:cNvSpPr/>
          <p:nvPr/>
        </p:nvSpPr>
        <p:spPr>
          <a:xfrm>
            <a:off x="3054096" y="2148840"/>
            <a:ext cx="274320" cy="274320"/>
          </a:xfrm>
          <a:prstGeom prst="ellipse">
            <a:avLst/>
          </a:prstGeom>
          <a:solidFill>
            <a:srgbClr val="1E5F8C"/>
          </a:solidFill>
          <a:ln w="12700">
            <a:solidFill>
              <a:srgbClr val="1E5F8C"/>
            </a:solidFill>
            <a:prstDash val="solid"/>
          </a:ln>
        </p:spPr>
        <p:txBody>
          <a:bodyPr/>
          <a:lstStyle/>
          <a:p>
            <a:endParaRPr lang="en-US"/>
          </a:p>
        </p:txBody>
      </p:sp>
      <p:sp>
        <p:nvSpPr>
          <p:cNvPr id="13" name="Text 11"/>
          <p:cNvSpPr/>
          <p:nvPr/>
        </p:nvSpPr>
        <p:spPr>
          <a:xfrm>
            <a:off x="2752344" y="1828800"/>
            <a:ext cx="1188720" cy="274320"/>
          </a:xfrm>
          <a:prstGeom prst="rect">
            <a:avLst/>
          </a:prstGeom>
          <a:noFill/>
          <a:ln/>
        </p:spPr>
        <p:txBody>
          <a:bodyPr wrap="square" rtlCol="0" anchor="ctr"/>
          <a:lstStyle/>
          <a:p>
            <a:pPr marL="0" indent="0" algn="ctr">
              <a:buNone/>
            </a:pPr>
            <a:r>
              <a:rPr lang="en-US" sz="1000" b="1" dirty="0">
                <a:solidFill>
                  <a:srgbClr val="8FA8C0"/>
                </a:solidFill>
                <a:latin typeface="Calibri" pitchFamily="34" charset="0"/>
                <a:ea typeface="Calibri" pitchFamily="34" charset="-122"/>
                <a:cs typeface="Calibri" pitchFamily="34" charset="-120"/>
              </a:rPr>
              <a:t>2018</a:t>
            </a:r>
            <a:endParaRPr lang="en-US" sz="1000" dirty="0"/>
          </a:p>
        </p:txBody>
      </p:sp>
      <p:sp>
        <p:nvSpPr>
          <p:cNvPr id="14" name="Text 12"/>
          <p:cNvSpPr/>
          <p:nvPr/>
        </p:nvSpPr>
        <p:spPr>
          <a:xfrm>
            <a:off x="2660904" y="2514600"/>
            <a:ext cx="1280160" cy="594360"/>
          </a:xfrm>
          <a:prstGeom prst="rect">
            <a:avLst/>
          </a:prstGeom>
          <a:noFill/>
          <a:ln/>
        </p:spPr>
        <p:txBody>
          <a:bodyPr wrap="square" rtlCol="0" anchor="ctr"/>
          <a:lstStyle/>
          <a:p>
            <a:pPr marL="0" indent="0" algn="ctr">
              <a:buNone/>
            </a:pPr>
            <a:r>
              <a:rPr lang="en-US" sz="950" dirty="0">
                <a:solidFill>
                  <a:srgbClr val="E8EDF2"/>
                </a:solidFill>
                <a:latin typeface="Calibri" pitchFamily="34" charset="0"/>
                <a:ea typeface="Calibri" pitchFamily="34" charset="-122"/>
                <a:cs typeface="Calibri" pitchFamily="34" charset="-120"/>
              </a:rPr>
              <a:t>US withdraws from</a:t>
            </a:r>
            <a:endParaRPr lang="en-US" sz="950" dirty="0"/>
          </a:p>
          <a:p>
            <a:pPr marL="0" indent="0" algn="ctr">
              <a:buNone/>
            </a:pPr>
            <a:r>
              <a:rPr lang="en-US" sz="950" dirty="0">
                <a:solidFill>
                  <a:srgbClr val="E8EDF2"/>
                </a:solidFill>
                <a:latin typeface="Calibri" pitchFamily="34" charset="0"/>
                <a:ea typeface="Calibri" pitchFamily="34" charset="-122"/>
                <a:cs typeface="Calibri" pitchFamily="34" charset="-120"/>
              </a:rPr>
              <a:t>JCPOA nuclear deal</a:t>
            </a:r>
            <a:endParaRPr lang="en-US" sz="950" dirty="0"/>
          </a:p>
        </p:txBody>
      </p:sp>
      <p:sp>
        <p:nvSpPr>
          <p:cNvPr id="15" name="Shape 13"/>
          <p:cNvSpPr/>
          <p:nvPr/>
        </p:nvSpPr>
        <p:spPr>
          <a:xfrm>
            <a:off x="4443984" y="2148840"/>
            <a:ext cx="274320" cy="274320"/>
          </a:xfrm>
          <a:prstGeom prst="ellipse">
            <a:avLst/>
          </a:prstGeom>
          <a:solidFill>
            <a:srgbClr val="1E5F8C"/>
          </a:solidFill>
          <a:ln w="12700">
            <a:solidFill>
              <a:srgbClr val="1E5F8C"/>
            </a:solidFill>
            <a:prstDash val="solid"/>
          </a:ln>
        </p:spPr>
        <p:txBody>
          <a:bodyPr/>
          <a:lstStyle/>
          <a:p>
            <a:endParaRPr lang="en-US"/>
          </a:p>
        </p:txBody>
      </p:sp>
      <p:sp>
        <p:nvSpPr>
          <p:cNvPr id="16" name="Text 14"/>
          <p:cNvSpPr/>
          <p:nvPr/>
        </p:nvSpPr>
        <p:spPr>
          <a:xfrm>
            <a:off x="4142232" y="1828800"/>
            <a:ext cx="1188720" cy="274320"/>
          </a:xfrm>
          <a:prstGeom prst="rect">
            <a:avLst/>
          </a:prstGeom>
          <a:noFill/>
          <a:ln/>
        </p:spPr>
        <p:txBody>
          <a:bodyPr wrap="square" rtlCol="0" anchor="ctr"/>
          <a:lstStyle/>
          <a:p>
            <a:pPr marL="0" indent="0" algn="ctr">
              <a:buNone/>
            </a:pPr>
            <a:r>
              <a:rPr lang="en-US" sz="1000" b="1" dirty="0">
                <a:solidFill>
                  <a:srgbClr val="8FA8C0"/>
                </a:solidFill>
                <a:latin typeface="Calibri" pitchFamily="34" charset="0"/>
                <a:ea typeface="Calibri" pitchFamily="34" charset="-122"/>
                <a:cs typeface="Calibri" pitchFamily="34" charset="-120"/>
              </a:rPr>
              <a:t>Oct 2023</a:t>
            </a:r>
            <a:endParaRPr lang="en-US" sz="1000" dirty="0"/>
          </a:p>
        </p:txBody>
      </p:sp>
      <p:sp>
        <p:nvSpPr>
          <p:cNvPr id="17" name="Text 15"/>
          <p:cNvSpPr/>
          <p:nvPr/>
        </p:nvSpPr>
        <p:spPr>
          <a:xfrm>
            <a:off x="4050792" y="2514600"/>
            <a:ext cx="1280160" cy="594360"/>
          </a:xfrm>
          <a:prstGeom prst="rect">
            <a:avLst/>
          </a:prstGeom>
          <a:noFill/>
          <a:ln/>
        </p:spPr>
        <p:txBody>
          <a:bodyPr wrap="square" rtlCol="0" anchor="ctr"/>
          <a:lstStyle/>
          <a:p>
            <a:pPr marL="0" indent="0" algn="ctr">
              <a:buNone/>
            </a:pPr>
            <a:r>
              <a:rPr lang="en-US" sz="950" dirty="0">
                <a:solidFill>
                  <a:srgbClr val="E8EDF2"/>
                </a:solidFill>
                <a:latin typeface="Calibri" pitchFamily="34" charset="0"/>
                <a:ea typeface="Calibri" pitchFamily="34" charset="-122"/>
                <a:cs typeface="Calibri" pitchFamily="34" charset="-120"/>
              </a:rPr>
              <a:t>Gaza war begins —</a:t>
            </a:r>
            <a:endParaRPr lang="en-US" sz="950" dirty="0"/>
          </a:p>
          <a:p>
            <a:pPr marL="0" indent="0" algn="ctr">
              <a:buNone/>
            </a:pPr>
            <a:r>
              <a:rPr lang="en-US" sz="950" dirty="0">
                <a:solidFill>
                  <a:srgbClr val="E8EDF2"/>
                </a:solidFill>
                <a:latin typeface="Calibri" pitchFamily="34" charset="0"/>
                <a:ea typeface="Calibri" pitchFamily="34" charset="-122"/>
                <a:cs typeface="Calibri" pitchFamily="34" charset="-120"/>
              </a:rPr>
              <a:t>regional arc widens</a:t>
            </a:r>
            <a:endParaRPr lang="en-US" sz="950" dirty="0"/>
          </a:p>
        </p:txBody>
      </p:sp>
      <p:sp>
        <p:nvSpPr>
          <p:cNvPr id="18" name="Shape 16"/>
          <p:cNvSpPr/>
          <p:nvPr/>
        </p:nvSpPr>
        <p:spPr>
          <a:xfrm>
            <a:off x="5833872" y="2148840"/>
            <a:ext cx="274320" cy="274320"/>
          </a:xfrm>
          <a:prstGeom prst="ellipse">
            <a:avLst/>
          </a:prstGeom>
          <a:solidFill>
            <a:srgbClr val="D4A017"/>
          </a:solidFill>
          <a:ln w="12700">
            <a:solidFill>
              <a:srgbClr val="D4A017"/>
            </a:solidFill>
            <a:prstDash val="solid"/>
          </a:ln>
        </p:spPr>
        <p:txBody>
          <a:bodyPr/>
          <a:lstStyle/>
          <a:p>
            <a:endParaRPr lang="en-US"/>
          </a:p>
        </p:txBody>
      </p:sp>
      <p:sp>
        <p:nvSpPr>
          <p:cNvPr id="19" name="Text 17"/>
          <p:cNvSpPr/>
          <p:nvPr/>
        </p:nvSpPr>
        <p:spPr>
          <a:xfrm>
            <a:off x="5532120" y="1828800"/>
            <a:ext cx="1188720" cy="274320"/>
          </a:xfrm>
          <a:prstGeom prst="rect">
            <a:avLst/>
          </a:prstGeom>
          <a:noFill/>
          <a:ln/>
        </p:spPr>
        <p:txBody>
          <a:bodyPr wrap="square" rtlCol="0" anchor="ctr"/>
          <a:lstStyle/>
          <a:p>
            <a:pPr marL="0" indent="0" algn="ctr">
              <a:buNone/>
            </a:pPr>
            <a:r>
              <a:rPr lang="en-US" sz="1000" b="1" dirty="0">
                <a:solidFill>
                  <a:srgbClr val="D4A017"/>
                </a:solidFill>
                <a:latin typeface="Calibri" pitchFamily="34" charset="0"/>
                <a:ea typeface="Calibri" pitchFamily="34" charset="-122"/>
                <a:cs typeface="Calibri" pitchFamily="34" charset="-120"/>
              </a:rPr>
              <a:t>Jun 2025</a:t>
            </a:r>
            <a:endParaRPr lang="en-US" sz="1000" dirty="0"/>
          </a:p>
        </p:txBody>
      </p:sp>
      <p:sp>
        <p:nvSpPr>
          <p:cNvPr id="20" name="Text 18"/>
          <p:cNvSpPr/>
          <p:nvPr/>
        </p:nvSpPr>
        <p:spPr>
          <a:xfrm>
            <a:off x="5440680" y="2514600"/>
            <a:ext cx="1280160" cy="594360"/>
          </a:xfrm>
          <a:prstGeom prst="rect">
            <a:avLst/>
          </a:prstGeom>
          <a:noFill/>
          <a:ln/>
        </p:spPr>
        <p:txBody>
          <a:bodyPr wrap="square" rtlCol="0" anchor="ctr"/>
          <a:lstStyle/>
          <a:p>
            <a:pPr marL="0" indent="0" algn="ctr">
              <a:buNone/>
            </a:pPr>
            <a:r>
              <a:rPr lang="en-US" sz="950" dirty="0">
                <a:solidFill>
                  <a:srgbClr val="E8EDF2"/>
                </a:solidFill>
                <a:latin typeface="Calibri" pitchFamily="34" charset="0"/>
                <a:ea typeface="Calibri" pitchFamily="34" charset="-122"/>
                <a:cs typeface="Calibri" pitchFamily="34" charset="-120"/>
              </a:rPr>
              <a:t>Twelve-Day War:</a:t>
            </a:r>
            <a:endParaRPr lang="en-US" sz="950" dirty="0"/>
          </a:p>
          <a:p>
            <a:pPr marL="0" indent="0" algn="ctr">
              <a:buNone/>
            </a:pPr>
            <a:r>
              <a:rPr lang="en-US" sz="950" dirty="0">
                <a:solidFill>
                  <a:srgbClr val="E8EDF2"/>
                </a:solidFill>
                <a:latin typeface="Calibri" pitchFamily="34" charset="0"/>
                <a:ea typeface="Calibri" pitchFamily="34" charset="-122"/>
                <a:cs typeface="Calibri" pitchFamily="34" charset="-120"/>
              </a:rPr>
              <a:t>Israel–Iran direct conflict</a:t>
            </a:r>
            <a:endParaRPr lang="en-US" sz="950" dirty="0"/>
          </a:p>
        </p:txBody>
      </p:sp>
      <p:sp>
        <p:nvSpPr>
          <p:cNvPr id="21" name="Shape 19"/>
          <p:cNvSpPr/>
          <p:nvPr/>
        </p:nvSpPr>
        <p:spPr>
          <a:xfrm>
            <a:off x="7223760" y="2148840"/>
            <a:ext cx="274320" cy="274320"/>
          </a:xfrm>
          <a:prstGeom prst="ellipse">
            <a:avLst/>
          </a:prstGeom>
          <a:solidFill>
            <a:srgbClr val="D4A017"/>
          </a:solidFill>
          <a:ln w="12700">
            <a:solidFill>
              <a:srgbClr val="D4A017"/>
            </a:solidFill>
            <a:prstDash val="solid"/>
          </a:ln>
        </p:spPr>
        <p:txBody>
          <a:bodyPr/>
          <a:lstStyle/>
          <a:p>
            <a:endParaRPr lang="en-US"/>
          </a:p>
        </p:txBody>
      </p:sp>
      <p:sp>
        <p:nvSpPr>
          <p:cNvPr id="22" name="Text 20"/>
          <p:cNvSpPr/>
          <p:nvPr/>
        </p:nvSpPr>
        <p:spPr>
          <a:xfrm>
            <a:off x="6922008" y="1828800"/>
            <a:ext cx="1188720" cy="274320"/>
          </a:xfrm>
          <a:prstGeom prst="rect">
            <a:avLst/>
          </a:prstGeom>
          <a:noFill/>
          <a:ln/>
        </p:spPr>
        <p:txBody>
          <a:bodyPr wrap="square" rtlCol="0" anchor="ctr"/>
          <a:lstStyle/>
          <a:p>
            <a:pPr marL="0" indent="0" algn="ctr">
              <a:buNone/>
            </a:pPr>
            <a:r>
              <a:rPr lang="en-US" sz="1000" b="1" dirty="0">
                <a:solidFill>
                  <a:srgbClr val="D4A017"/>
                </a:solidFill>
                <a:latin typeface="Calibri" pitchFamily="34" charset="0"/>
                <a:ea typeface="Calibri" pitchFamily="34" charset="-122"/>
                <a:cs typeface="Calibri" pitchFamily="34" charset="-120"/>
              </a:rPr>
              <a:t>Feb 2026</a:t>
            </a:r>
            <a:endParaRPr lang="en-US" sz="1000" dirty="0"/>
          </a:p>
        </p:txBody>
      </p:sp>
      <p:sp>
        <p:nvSpPr>
          <p:cNvPr id="23" name="Text 21"/>
          <p:cNvSpPr/>
          <p:nvPr/>
        </p:nvSpPr>
        <p:spPr>
          <a:xfrm>
            <a:off x="6830568" y="2514600"/>
            <a:ext cx="1280160" cy="594360"/>
          </a:xfrm>
          <a:prstGeom prst="rect">
            <a:avLst/>
          </a:prstGeom>
          <a:noFill/>
          <a:ln/>
        </p:spPr>
        <p:txBody>
          <a:bodyPr wrap="square" rtlCol="0" anchor="ctr"/>
          <a:lstStyle/>
          <a:p>
            <a:pPr marL="0" indent="0" algn="ctr">
              <a:buNone/>
            </a:pPr>
            <a:r>
              <a:rPr lang="en-US" sz="950" dirty="0">
                <a:solidFill>
                  <a:srgbClr val="E8EDF2"/>
                </a:solidFill>
                <a:latin typeface="Calibri" pitchFamily="34" charset="0"/>
                <a:ea typeface="Calibri" pitchFamily="34" charset="-122"/>
                <a:cs typeface="Calibri" pitchFamily="34" charset="-120"/>
              </a:rPr>
              <a:t>Operation Epic Fury:</a:t>
            </a:r>
            <a:endParaRPr lang="en-US" sz="950" dirty="0"/>
          </a:p>
          <a:p>
            <a:pPr marL="0" indent="0" algn="ctr">
              <a:buNone/>
            </a:pPr>
            <a:r>
              <a:rPr lang="en-US" sz="950" dirty="0">
                <a:solidFill>
                  <a:srgbClr val="E8EDF2"/>
                </a:solidFill>
                <a:latin typeface="Calibri" pitchFamily="34" charset="0"/>
                <a:ea typeface="Calibri" pitchFamily="34" charset="-122"/>
                <a:cs typeface="Calibri" pitchFamily="34" charset="-120"/>
              </a:rPr>
              <a:t>US–Iran open war</a:t>
            </a:r>
            <a:endParaRPr lang="en-US" sz="950" dirty="0"/>
          </a:p>
        </p:txBody>
      </p:sp>
      <p:sp>
        <p:nvSpPr>
          <p:cNvPr id="24" name="Text 22"/>
          <p:cNvSpPr/>
          <p:nvPr/>
        </p:nvSpPr>
        <p:spPr>
          <a:xfrm>
            <a:off x="457200" y="3840480"/>
            <a:ext cx="8229600" cy="685800"/>
          </a:xfrm>
          <a:prstGeom prst="rect">
            <a:avLst/>
          </a:prstGeom>
          <a:noFill/>
          <a:ln/>
        </p:spPr>
        <p:txBody>
          <a:bodyPr wrap="square" rtlCol="0" anchor="ctr"/>
          <a:lstStyle/>
          <a:p>
            <a:pPr marL="0" indent="0" algn="l">
              <a:buNone/>
            </a:pPr>
            <a:r>
              <a:rPr lang="en-US" sz="1200" i="1" dirty="0">
                <a:solidFill>
                  <a:srgbClr val="8FA8C0"/>
                </a:solidFill>
                <a:latin typeface="Calibri" pitchFamily="34" charset="0"/>
                <a:ea typeface="Calibri" pitchFamily="34" charset="-122"/>
                <a:cs typeface="Calibri" pitchFamily="34" charset="-120"/>
              </a:rPr>
              <a:t>What distinguishes the 2026 conflict is its potential to disrupt the Strait of Hormuz — one of the world's most critical energy chokepoints. Even the threat of disruption sends shockwaves through global fuel costs, food prices, and supply chains.</a:t>
            </a:r>
            <a:endParaRPr lang="en-US" sz="1200" dirty="0"/>
          </a:p>
        </p:txBody>
      </p:sp>
      <p:sp>
        <p:nvSpPr>
          <p:cNvPr id="25" name="Shape 23"/>
          <p:cNvSpPr/>
          <p:nvPr/>
        </p:nvSpPr>
        <p:spPr>
          <a:xfrm>
            <a:off x="457200" y="3822192"/>
            <a:ext cx="54864" cy="685800"/>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OUR HYPOTHESIS</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lgn="l">
              <a:buNone/>
            </a:pPr>
            <a:r>
              <a:rPr lang="en-US" sz="3400" b="1" dirty="0">
                <a:solidFill>
                  <a:srgbClr val="0A1628"/>
                </a:solidFill>
                <a:latin typeface="Georgia" pitchFamily="34" charset="0"/>
                <a:ea typeface="Georgia" pitchFamily="34" charset="-122"/>
                <a:cs typeface="Georgia" pitchFamily="34" charset="-120"/>
              </a:rPr>
              <a:t>What If the Answer Was Hiding</a:t>
            </a:r>
            <a:endParaRPr lang="en-US" sz="3400" dirty="0"/>
          </a:p>
          <a:p>
            <a:pPr marL="0" indent="0" algn="l">
              <a:buNone/>
            </a:pPr>
            <a:r>
              <a:rPr lang="en-US" sz="3400" b="1" dirty="0">
                <a:solidFill>
                  <a:srgbClr val="0A1628"/>
                </a:solidFill>
                <a:latin typeface="Georgia" pitchFamily="34" charset="0"/>
                <a:ea typeface="Georgia" pitchFamily="34" charset="-122"/>
                <a:cs typeface="Georgia" pitchFamily="34" charset="-120"/>
              </a:rPr>
              <a:t>in Diplomatic Data?</a:t>
            </a:r>
            <a:endParaRPr lang="en-US" sz="3400" dirty="0"/>
          </a:p>
        </p:txBody>
      </p:sp>
      <p:sp>
        <p:nvSpPr>
          <p:cNvPr id="4" name="Text 2"/>
          <p:cNvSpPr/>
          <p:nvPr/>
        </p:nvSpPr>
        <p:spPr>
          <a:xfrm>
            <a:off x="457200" y="1143000"/>
            <a:ext cx="8229600" cy="347472"/>
          </a:xfrm>
          <a:prstGeom prst="rect">
            <a:avLst/>
          </a:prstGeom>
          <a:noFill/>
          <a:ln/>
        </p:spPr>
        <p:txBody>
          <a:bodyPr wrap="square" rtlCol="0" anchor="ctr"/>
          <a:lstStyle/>
          <a:p>
            <a:pPr marL="0" indent="0" algn="l">
              <a:buNone/>
            </a:pPr>
            <a:r>
              <a:rPr lang="en-US" sz="1400" i="1" dirty="0">
                <a:solidFill>
                  <a:srgbClr val="1E5F8C"/>
                </a:solidFill>
                <a:latin typeface="Calibri" pitchFamily="34" charset="0"/>
                <a:ea typeface="Calibri" pitchFamily="34" charset="-122"/>
                <a:cs typeface="Calibri" pitchFamily="34" charset="-120"/>
              </a:rPr>
              <a:t>Traditional conflict prediction relies on slow structural indicators. We asked a different question.</a:t>
            </a:r>
            <a:endParaRPr lang="en-US" sz="1400" dirty="0"/>
          </a:p>
        </p:txBody>
      </p:sp>
      <p:sp>
        <p:nvSpPr>
          <p:cNvPr id="5" name="Shape 3"/>
          <p:cNvSpPr/>
          <p:nvPr/>
        </p:nvSpPr>
        <p:spPr>
          <a:xfrm>
            <a:off x="457200" y="1691640"/>
            <a:ext cx="8229600" cy="86868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691640"/>
            <a:ext cx="64008" cy="868680"/>
          </a:xfrm>
          <a:prstGeom prst="rect">
            <a:avLst/>
          </a:prstGeom>
          <a:solidFill>
            <a:srgbClr val="1E5F8C"/>
          </a:solidFill>
          <a:ln w="12700">
            <a:solidFill>
              <a:srgbClr val="1E5F8C"/>
            </a:solidFill>
            <a:prstDash val="solid"/>
          </a:ln>
        </p:spPr>
        <p:txBody>
          <a:bodyPr/>
          <a:lstStyle/>
          <a:p>
            <a:endParaRPr lang="en-US"/>
          </a:p>
        </p:txBody>
      </p:sp>
      <p:sp>
        <p:nvSpPr>
          <p:cNvPr id="7" name="Text 5"/>
          <p:cNvSpPr/>
          <p:nvPr/>
        </p:nvSpPr>
        <p:spPr>
          <a:xfrm>
            <a:off x="640080" y="1783080"/>
            <a:ext cx="2286000" cy="274320"/>
          </a:xfrm>
          <a:prstGeom prst="rect">
            <a:avLst/>
          </a:prstGeom>
          <a:noFill/>
          <a:ln/>
        </p:spPr>
        <p:txBody>
          <a:bodyPr wrap="square" lIns="0" tIns="0" rIns="0" bIns="0" rtlCol="0" anchor="ctr"/>
          <a:lstStyle/>
          <a:p>
            <a:pPr marL="0" indent="0">
              <a:buNone/>
            </a:pPr>
            <a:r>
              <a:rPr lang="en-US" sz="1100" b="1" dirty="0">
                <a:solidFill>
                  <a:srgbClr val="1E5F8C"/>
                </a:solidFill>
                <a:latin typeface="Calibri" pitchFamily="34" charset="0"/>
                <a:ea typeface="Calibri" pitchFamily="34" charset="-122"/>
                <a:cs typeface="Calibri" pitchFamily="34" charset="-120"/>
              </a:rPr>
              <a:t>The Gap in Existing Research</a:t>
            </a:r>
            <a:endParaRPr lang="en-US" sz="1100" dirty="0"/>
          </a:p>
        </p:txBody>
      </p:sp>
      <p:sp>
        <p:nvSpPr>
          <p:cNvPr id="8" name="Text 6"/>
          <p:cNvSpPr/>
          <p:nvPr/>
        </p:nvSpPr>
        <p:spPr>
          <a:xfrm>
            <a:off x="3063240" y="1764792"/>
            <a:ext cx="5486400" cy="71323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Most GDELT-based conflict models focus on direct adversarial pairs — USA vs Iran directly. Nobody had looked at what the mediator in the middle was signaling.</a:t>
            </a:r>
            <a:endParaRPr lang="en-US" sz="1200" dirty="0"/>
          </a:p>
        </p:txBody>
      </p:sp>
      <p:sp>
        <p:nvSpPr>
          <p:cNvPr id="9" name="Shape 7"/>
          <p:cNvSpPr/>
          <p:nvPr/>
        </p:nvSpPr>
        <p:spPr>
          <a:xfrm>
            <a:off x="2926080" y="1874520"/>
            <a:ext cx="0" cy="502920"/>
          </a:xfrm>
          <a:prstGeom prst="line">
            <a:avLst/>
          </a:prstGeom>
          <a:noFill/>
          <a:ln w="9525">
            <a:solidFill>
              <a:srgbClr val="CCCCCC"/>
            </a:solidFill>
            <a:prstDash val="solid"/>
          </a:ln>
        </p:spPr>
        <p:txBody>
          <a:bodyPr/>
          <a:lstStyle/>
          <a:p>
            <a:endParaRPr lang="en-US"/>
          </a:p>
        </p:txBody>
      </p:sp>
      <p:sp>
        <p:nvSpPr>
          <p:cNvPr id="10" name="Shape 8"/>
          <p:cNvSpPr/>
          <p:nvPr/>
        </p:nvSpPr>
        <p:spPr>
          <a:xfrm>
            <a:off x="457200" y="2697480"/>
            <a:ext cx="8229600" cy="86868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57200" y="2697480"/>
            <a:ext cx="64008" cy="868680"/>
          </a:xfrm>
          <a:prstGeom prst="rect">
            <a:avLst/>
          </a:prstGeom>
          <a:solidFill>
            <a:srgbClr val="D4A017"/>
          </a:solidFill>
          <a:ln w="12700">
            <a:solidFill>
              <a:srgbClr val="D4A017"/>
            </a:solidFill>
            <a:prstDash val="solid"/>
          </a:ln>
        </p:spPr>
        <p:txBody>
          <a:bodyPr/>
          <a:lstStyle/>
          <a:p>
            <a:endParaRPr lang="en-US"/>
          </a:p>
        </p:txBody>
      </p:sp>
      <p:sp>
        <p:nvSpPr>
          <p:cNvPr id="12" name="Text 10"/>
          <p:cNvSpPr/>
          <p:nvPr/>
        </p:nvSpPr>
        <p:spPr>
          <a:xfrm>
            <a:off x="640080" y="2788920"/>
            <a:ext cx="2286000" cy="274320"/>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Our Core Insight</a:t>
            </a:r>
            <a:endParaRPr lang="en-US" sz="1100" dirty="0"/>
          </a:p>
        </p:txBody>
      </p:sp>
      <p:sp>
        <p:nvSpPr>
          <p:cNvPr id="13" name="Text 11"/>
          <p:cNvSpPr/>
          <p:nvPr/>
        </p:nvSpPr>
        <p:spPr>
          <a:xfrm>
            <a:off x="3063240" y="2770632"/>
            <a:ext cx="5486400" cy="71323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A neutral state positioned between two adversaries encodes conflict-predictive information in its own diplomatic tone — information that appears before the adversaries escalate openly.</a:t>
            </a:r>
            <a:endParaRPr lang="en-US" sz="1200" dirty="0"/>
          </a:p>
        </p:txBody>
      </p:sp>
      <p:sp>
        <p:nvSpPr>
          <p:cNvPr id="14" name="Shape 12"/>
          <p:cNvSpPr/>
          <p:nvPr/>
        </p:nvSpPr>
        <p:spPr>
          <a:xfrm>
            <a:off x="2926080" y="2880360"/>
            <a:ext cx="0" cy="502920"/>
          </a:xfrm>
          <a:prstGeom prst="line">
            <a:avLst/>
          </a:prstGeom>
          <a:noFill/>
          <a:ln w="9525">
            <a:solidFill>
              <a:srgbClr val="CCCCCC"/>
            </a:solidFill>
            <a:prstDash val="solid"/>
          </a:ln>
        </p:spPr>
        <p:txBody>
          <a:bodyPr/>
          <a:lstStyle/>
          <a:p>
            <a:endParaRPr lang="en-US"/>
          </a:p>
        </p:txBody>
      </p:sp>
      <p:sp>
        <p:nvSpPr>
          <p:cNvPr id="15" name="Shape 13"/>
          <p:cNvSpPr/>
          <p:nvPr/>
        </p:nvSpPr>
        <p:spPr>
          <a:xfrm>
            <a:off x="457200" y="3703320"/>
            <a:ext cx="8229600" cy="86868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57200" y="3703320"/>
            <a:ext cx="64008" cy="868680"/>
          </a:xfrm>
          <a:prstGeom prst="rect">
            <a:avLst/>
          </a:prstGeom>
          <a:solidFill>
            <a:srgbClr val="1A7A4A"/>
          </a:solidFill>
          <a:ln w="12700">
            <a:solidFill>
              <a:srgbClr val="1A7A4A"/>
            </a:solidFill>
            <a:prstDash val="solid"/>
          </a:ln>
        </p:spPr>
        <p:txBody>
          <a:bodyPr/>
          <a:lstStyle/>
          <a:p>
            <a:endParaRPr lang="en-US"/>
          </a:p>
        </p:txBody>
      </p:sp>
      <p:sp>
        <p:nvSpPr>
          <p:cNvPr id="17" name="Text 15"/>
          <p:cNvSpPr/>
          <p:nvPr/>
        </p:nvSpPr>
        <p:spPr>
          <a:xfrm>
            <a:off x="640080" y="3794760"/>
            <a:ext cx="2286000" cy="274320"/>
          </a:xfrm>
          <a:prstGeom prst="rect">
            <a:avLst/>
          </a:prstGeom>
          <a:noFill/>
          <a:ln/>
        </p:spPr>
        <p:txBody>
          <a:bodyPr wrap="square" lIns="0" tIns="0" rIns="0" bIns="0"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Why Pakistan?</a:t>
            </a:r>
            <a:endParaRPr lang="en-US" sz="1100" dirty="0"/>
          </a:p>
        </p:txBody>
      </p:sp>
      <p:sp>
        <p:nvSpPr>
          <p:cNvPr id="18" name="Text 16"/>
          <p:cNvSpPr/>
          <p:nvPr/>
        </p:nvSpPr>
        <p:spPr>
          <a:xfrm>
            <a:off x="3063240" y="3776472"/>
            <a:ext cx="5486400" cy="71323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Pakistan maintains positive diplomatic tone with both the USA (+0.78) and Iran (+1.19) — a rare dual-positive positioning that makes it the ideal mediator-state signal source.</a:t>
            </a:r>
            <a:endParaRPr lang="en-US" sz="1200" dirty="0"/>
          </a:p>
        </p:txBody>
      </p:sp>
      <p:sp>
        <p:nvSpPr>
          <p:cNvPr id="19" name="Shape 17"/>
          <p:cNvSpPr/>
          <p:nvPr/>
        </p:nvSpPr>
        <p:spPr>
          <a:xfrm>
            <a:off x="2926080" y="3886200"/>
            <a:ext cx="0" cy="502920"/>
          </a:xfrm>
          <a:prstGeom prst="line">
            <a:avLst/>
          </a:prstGeom>
          <a:noFill/>
          <a:ln w="9525">
            <a:solidFill>
              <a:srgbClr val="CCCCCC"/>
            </a:solidFill>
            <a:prstDash val="solid"/>
          </a:ln>
        </p:spPr>
        <p:txBody>
          <a:bodyPr/>
          <a:lstStyle/>
          <a:p>
            <a:endParaRPr lang="en-US"/>
          </a:p>
        </p:txBody>
      </p:sp>
      <p:sp>
        <p:nvSpPr>
          <p:cNvPr id="20" name="Text 18"/>
          <p:cNvSpPr/>
          <p:nvPr/>
        </p:nvSpPr>
        <p:spPr>
          <a:xfrm>
            <a:off x="457200" y="4736592"/>
            <a:ext cx="8229600" cy="256032"/>
          </a:xfrm>
          <a:prstGeom prst="rect">
            <a:avLst/>
          </a:prstGeom>
          <a:noFill/>
          <a:ln/>
        </p:spPr>
        <p:txBody>
          <a:bodyPr wrap="square" rtlCol="0" anchor="ctr"/>
          <a:lstStyle/>
          <a:p>
            <a:pPr marL="0" indent="0" algn="ctr">
              <a:buNone/>
            </a:pPr>
            <a:r>
              <a:rPr lang="en-US" sz="1000" i="1" dirty="0">
                <a:solidFill>
                  <a:srgbClr val="8FA8C0"/>
                </a:solidFill>
                <a:latin typeface="Calibri" pitchFamily="34" charset="0"/>
                <a:ea typeface="Calibri" pitchFamily="34" charset="-122"/>
                <a:cs typeface="Calibri" pitchFamily="34" charset="-120"/>
              </a:rPr>
              <a:t>Dataset: 1.1 million GDELT Pakistan dyadic events · January 2016 – April 2026 · 10+ DAX measures engineered · 3 real-world crises validated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DATA &amp; METHODOLOGY</a:t>
            </a:r>
            <a:endParaRPr lang="en-US" sz="900" dirty="0"/>
          </a:p>
        </p:txBody>
      </p:sp>
      <p:sp>
        <p:nvSpPr>
          <p:cNvPr id="3" name="Text 1"/>
          <p:cNvSpPr/>
          <p:nvPr/>
        </p:nvSpPr>
        <p:spPr>
          <a:xfrm>
            <a:off x="457200" y="502920"/>
            <a:ext cx="8229600" cy="731520"/>
          </a:xfrm>
          <a:prstGeom prst="rect">
            <a:avLst/>
          </a:prstGeom>
          <a:noFill/>
          <a:ln/>
        </p:spPr>
        <p:txBody>
          <a:bodyPr wrap="square"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How We Measured Diplomatic Tone</a:t>
            </a:r>
            <a:endParaRPr lang="en-US" sz="3600" dirty="0"/>
          </a:p>
        </p:txBody>
      </p:sp>
      <p:sp>
        <p:nvSpPr>
          <p:cNvPr id="4" name="Text 2"/>
          <p:cNvSpPr/>
          <p:nvPr/>
        </p:nvSpPr>
        <p:spPr>
          <a:xfrm>
            <a:off x="457200" y="1325880"/>
            <a:ext cx="8229600" cy="411480"/>
          </a:xfrm>
          <a:prstGeom prst="rect">
            <a:avLst/>
          </a:prstGeom>
          <a:noFill/>
          <a:ln/>
        </p:spPr>
        <p:txBody>
          <a:bodyPr wrap="square" rtlCol="0" anchor="ctr"/>
          <a:lstStyle/>
          <a:p>
            <a:pPr marL="0" indent="0" algn="l">
              <a:buNone/>
            </a:pPr>
            <a:r>
              <a:rPr lang="en-US" sz="1500" i="1" dirty="0">
                <a:solidFill>
                  <a:srgbClr val="8FA8C0"/>
                </a:solidFill>
                <a:latin typeface="Calibri" pitchFamily="34" charset="0"/>
                <a:ea typeface="Calibri" pitchFamily="34" charset="-122"/>
                <a:cs typeface="Calibri" pitchFamily="34" charset="-120"/>
              </a:rPr>
              <a:t>The Goldstein Scale converts diplomatic events into measurable cooperation–conflict scores.</a:t>
            </a:r>
            <a:endParaRPr lang="en-US" sz="1500" dirty="0"/>
          </a:p>
        </p:txBody>
      </p:sp>
      <p:sp>
        <p:nvSpPr>
          <p:cNvPr id="5" name="Text 3"/>
          <p:cNvSpPr/>
          <p:nvPr/>
        </p:nvSpPr>
        <p:spPr>
          <a:xfrm>
            <a:off x="457200" y="1874520"/>
            <a:ext cx="3657600" cy="256032"/>
          </a:xfrm>
          <a:prstGeom prst="rect">
            <a:avLst/>
          </a:prstGeom>
          <a:noFill/>
          <a:ln/>
        </p:spPr>
        <p:txBody>
          <a:bodyPr wrap="square" rtlCol="0" anchor="ctr"/>
          <a:lstStyle/>
          <a:p>
            <a:pPr marL="0" indent="0">
              <a:buNone/>
            </a:pPr>
            <a:r>
              <a:rPr lang="en-US" sz="900" b="1" kern="0" spc="300" dirty="0">
                <a:solidFill>
                  <a:srgbClr val="D4A017"/>
                </a:solidFill>
                <a:latin typeface="Calibri" pitchFamily="34" charset="0"/>
                <a:ea typeface="Calibri" pitchFamily="34" charset="-122"/>
                <a:cs typeface="Calibri" pitchFamily="34" charset="-120"/>
              </a:rPr>
              <a:t>THE GOLDSTEIN SCALE</a:t>
            </a:r>
            <a:endParaRPr lang="en-US" sz="900" dirty="0"/>
          </a:p>
        </p:txBody>
      </p:sp>
      <p:sp>
        <p:nvSpPr>
          <p:cNvPr id="6" name="Shape 4"/>
          <p:cNvSpPr/>
          <p:nvPr/>
        </p:nvSpPr>
        <p:spPr>
          <a:xfrm>
            <a:off x="457200" y="2212848"/>
            <a:ext cx="502920" cy="329184"/>
          </a:xfrm>
          <a:prstGeom prst="rect">
            <a:avLst/>
          </a:prstGeom>
          <a:solidFill>
            <a:srgbClr val="1A7A4A"/>
          </a:solidFill>
          <a:ln w="12700">
            <a:solidFill>
              <a:srgbClr val="1A7A4A"/>
            </a:solidFill>
            <a:prstDash val="solid"/>
          </a:ln>
        </p:spPr>
        <p:txBody>
          <a:bodyPr/>
          <a:lstStyle/>
          <a:p>
            <a:endParaRPr lang="en-US"/>
          </a:p>
        </p:txBody>
      </p:sp>
      <p:sp>
        <p:nvSpPr>
          <p:cNvPr id="7" name="Text 5"/>
          <p:cNvSpPr/>
          <p:nvPr/>
        </p:nvSpPr>
        <p:spPr>
          <a:xfrm>
            <a:off x="457200" y="2212848"/>
            <a:ext cx="502920" cy="329184"/>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+10</a:t>
            </a:r>
            <a:endParaRPr lang="en-US" sz="1100" dirty="0"/>
          </a:p>
        </p:txBody>
      </p:sp>
      <p:sp>
        <p:nvSpPr>
          <p:cNvPr id="8" name="Text 6"/>
          <p:cNvSpPr/>
          <p:nvPr/>
        </p:nvSpPr>
        <p:spPr>
          <a:xfrm>
            <a:off x="1078992" y="2249424"/>
            <a:ext cx="2834640" cy="274320"/>
          </a:xfrm>
          <a:prstGeom prst="rect">
            <a:avLst/>
          </a:prstGeom>
          <a:noFill/>
          <a:ln/>
        </p:spPr>
        <p:txBody>
          <a:bodyPr wrap="square" rtlCol="0" anchor="ctr"/>
          <a:lstStyle/>
          <a:p>
            <a:pPr marL="0" indent="0">
              <a:buNone/>
            </a:pPr>
            <a:r>
              <a:rPr lang="en-US" sz="1100" dirty="0">
                <a:solidFill>
                  <a:srgbClr val="E8EDF2"/>
                </a:solidFill>
                <a:latin typeface="Calibri" pitchFamily="34" charset="0"/>
                <a:ea typeface="Calibri" pitchFamily="34" charset="-122"/>
                <a:cs typeface="Calibri" pitchFamily="34" charset="-120"/>
              </a:rPr>
              <a:t>Full Cooperation</a:t>
            </a:r>
            <a:endParaRPr lang="en-US" sz="1100" dirty="0"/>
          </a:p>
        </p:txBody>
      </p:sp>
      <p:sp>
        <p:nvSpPr>
          <p:cNvPr id="9" name="Shape 7"/>
          <p:cNvSpPr/>
          <p:nvPr/>
        </p:nvSpPr>
        <p:spPr>
          <a:xfrm>
            <a:off x="457200" y="2706624"/>
            <a:ext cx="502920" cy="329184"/>
          </a:xfrm>
          <a:prstGeom prst="rect">
            <a:avLst/>
          </a:prstGeom>
          <a:solidFill>
            <a:srgbClr val="2E86C1"/>
          </a:solidFill>
          <a:ln w="12700">
            <a:solidFill>
              <a:srgbClr val="2E86C1"/>
            </a:solidFill>
            <a:prstDash val="solid"/>
          </a:ln>
        </p:spPr>
        <p:txBody>
          <a:bodyPr/>
          <a:lstStyle/>
          <a:p>
            <a:endParaRPr lang="en-US"/>
          </a:p>
        </p:txBody>
      </p:sp>
      <p:sp>
        <p:nvSpPr>
          <p:cNvPr id="10" name="Text 8"/>
          <p:cNvSpPr/>
          <p:nvPr/>
        </p:nvSpPr>
        <p:spPr>
          <a:xfrm>
            <a:off x="457200" y="2706624"/>
            <a:ext cx="502920" cy="329184"/>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+5</a:t>
            </a:r>
            <a:endParaRPr lang="en-US" sz="1100" dirty="0"/>
          </a:p>
        </p:txBody>
      </p:sp>
      <p:sp>
        <p:nvSpPr>
          <p:cNvPr id="11" name="Text 9"/>
          <p:cNvSpPr/>
          <p:nvPr/>
        </p:nvSpPr>
        <p:spPr>
          <a:xfrm>
            <a:off x="1078992" y="2743200"/>
            <a:ext cx="2834640" cy="274320"/>
          </a:xfrm>
          <a:prstGeom prst="rect">
            <a:avLst/>
          </a:prstGeom>
          <a:noFill/>
          <a:ln/>
        </p:spPr>
        <p:txBody>
          <a:bodyPr wrap="square" rtlCol="0" anchor="ctr"/>
          <a:lstStyle/>
          <a:p>
            <a:pPr marL="0" indent="0">
              <a:buNone/>
            </a:pPr>
            <a:r>
              <a:rPr lang="en-US" sz="1100" dirty="0">
                <a:solidFill>
                  <a:srgbClr val="E8EDF2"/>
                </a:solidFill>
                <a:latin typeface="Calibri" pitchFamily="34" charset="0"/>
                <a:ea typeface="Calibri" pitchFamily="34" charset="-122"/>
                <a:cs typeface="Calibri" pitchFamily="34" charset="-120"/>
              </a:rPr>
              <a:t>Diplomatic Endorsement</a:t>
            </a:r>
            <a:endParaRPr lang="en-US" sz="1100" dirty="0"/>
          </a:p>
        </p:txBody>
      </p:sp>
      <p:sp>
        <p:nvSpPr>
          <p:cNvPr id="12" name="Shape 10"/>
          <p:cNvSpPr/>
          <p:nvPr/>
        </p:nvSpPr>
        <p:spPr>
          <a:xfrm>
            <a:off x="457200" y="3200400"/>
            <a:ext cx="502920" cy="329184"/>
          </a:xfrm>
          <a:prstGeom prst="rect">
            <a:avLst/>
          </a:prstGeom>
          <a:solidFill>
            <a:srgbClr val="8FA8C0"/>
          </a:solidFill>
          <a:ln w="12700">
            <a:solidFill>
              <a:srgbClr val="8FA8C0"/>
            </a:solidFill>
            <a:prstDash val="solid"/>
          </a:ln>
        </p:spPr>
        <p:txBody>
          <a:bodyPr/>
          <a:lstStyle/>
          <a:p>
            <a:endParaRPr lang="en-US"/>
          </a:p>
        </p:txBody>
      </p:sp>
      <p:sp>
        <p:nvSpPr>
          <p:cNvPr id="13" name="Text 11"/>
          <p:cNvSpPr/>
          <p:nvPr/>
        </p:nvSpPr>
        <p:spPr>
          <a:xfrm>
            <a:off x="457200" y="3200400"/>
            <a:ext cx="502920" cy="329184"/>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a:t>
            </a:r>
            <a:endParaRPr lang="en-US" sz="1100" dirty="0"/>
          </a:p>
        </p:txBody>
      </p:sp>
      <p:sp>
        <p:nvSpPr>
          <p:cNvPr id="14" name="Text 12"/>
          <p:cNvSpPr/>
          <p:nvPr/>
        </p:nvSpPr>
        <p:spPr>
          <a:xfrm>
            <a:off x="1078992" y="3236976"/>
            <a:ext cx="2834640" cy="274320"/>
          </a:xfrm>
          <a:prstGeom prst="rect">
            <a:avLst/>
          </a:prstGeom>
          <a:noFill/>
          <a:ln/>
        </p:spPr>
        <p:txBody>
          <a:bodyPr wrap="square" rtlCol="0" anchor="ctr"/>
          <a:lstStyle/>
          <a:p>
            <a:pPr marL="0" indent="0">
              <a:buNone/>
            </a:pPr>
            <a:r>
              <a:rPr lang="en-US" sz="1100" dirty="0">
                <a:solidFill>
                  <a:srgbClr val="E8EDF2"/>
                </a:solidFill>
                <a:latin typeface="Calibri" pitchFamily="34" charset="0"/>
                <a:ea typeface="Calibri" pitchFamily="34" charset="-122"/>
                <a:cs typeface="Calibri" pitchFamily="34" charset="-120"/>
              </a:rPr>
              <a:t>Neutral Contact</a:t>
            </a:r>
            <a:endParaRPr lang="en-US" sz="1100" dirty="0"/>
          </a:p>
        </p:txBody>
      </p:sp>
      <p:sp>
        <p:nvSpPr>
          <p:cNvPr id="15" name="Shape 13"/>
          <p:cNvSpPr/>
          <p:nvPr/>
        </p:nvSpPr>
        <p:spPr>
          <a:xfrm>
            <a:off x="457200" y="3694176"/>
            <a:ext cx="502920" cy="329184"/>
          </a:xfrm>
          <a:prstGeom prst="rect">
            <a:avLst/>
          </a:prstGeom>
          <a:solidFill>
            <a:srgbClr val="E67E22"/>
          </a:solidFill>
          <a:ln w="12700">
            <a:solidFill>
              <a:srgbClr val="E67E22"/>
            </a:solidFill>
            <a:prstDash val="solid"/>
          </a:ln>
        </p:spPr>
        <p:txBody>
          <a:bodyPr/>
          <a:lstStyle/>
          <a:p>
            <a:endParaRPr lang="en-US"/>
          </a:p>
        </p:txBody>
      </p:sp>
      <p:sp>
        <p:nvSpPr>
          <p:cNvPr id="16" name="Text 14"/>
          <p:cNvSpPr/>
          <p:nvPr/>
        </p:nvSpPr>
        <p:spPr>
          <a:xfrm>
            <a:off x="457200" y="3694176"/>
            <a:ext cx="502920" cy="329184"/>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−5</a:t>
            </a:r>
            <a:endParaRPr lang="en-US" sz="1100" dirty="0"/>
          </a:p>
        </p:txBody>
      </p:sp>
      <p:sp>
        <p:nvSpPr>
          <p:cNvPr id="17" name="Text 15"/>
          <p:cNvSpPr/>
          <p:nvPr/>
        </p:nvSpPr>
        <p:spPr>
          <a:xfrm>
            <a:off x="1078992" y="3730752"/>
            <a:ext cx="2834640" cy="274320"/>
          </a:xfrm>
          <a:prstGeom prst="rect">
            <a:avLst/>
          </a:prstGeom>
          <a:noFill/>
          <a:ln/>
        </p:spPr>
        <p:txBody>
          <a:bodyPr wrap="square" rtlCol="0" anchor="ctr"/>
          <a:lstStyle/>
          <a:p>
            <a:pPr marL="0" indent="0">
              <a:buNone/>
            </a:pPr>
            <a:r>
              <a:rPr lang="en-US" sz="1100" dirty="0">
                <a:solidFill>
                  <a:srgbClr val="E8EDF2"/>
                </a:solidFill>
                <a:latin typeface="Calibri" pitchFamily="34" charset="0"/>
                <a:ea typeface="Calibri" pitchFamily="34" charset="-122"/>
                <a:cs typeface="Calibri" pitchFamily="34" charset="-120"/>
              </a:rPr>
              <a:t>Public Criticism / Sanctions</a:t>
            </a:r>
            <a:endParaRPr lang="en-US" sz="1100" dirty="0"/>
          </a:p>
        </p:txBody>
      </p:sp>
      <p:sp>
        <p:nvSpPr>
          <p:cNvPr id="18" name="Shape 16"/>
          <p:cNvSpPr/>
          <p:nvPr/>
        </p:nvSpPr>
        <p:spPr>
          <a:xfrm>
            <a:off x="457200" y="4187952"/>
            <a:ext cx="502920" cy="329184"/>
          </a:xfrm>
          <a:prstGeom prst="rect">
            <a:avLst/>
          </a:prstGeom>
          <a:solidFill>
            <a:srgbClr val="C0392B"/>
          </a:solidFill>
          <a:ln w="12700">
            <a:solidFill>
              <a:srgbClr val="C0392B"/>
            </a:solidFill>
            <a:prstDash val="solid"/>
          </a:ln>
        </p:spPr>
        <p:txBody>
          <a:bodyPr/>
          <a:lstStyle/>
          <a:p>
            <a:endParaRPr lang="en-US"/>
          </a:p>
        </p:txBody>
      </p:sp>
      <p:sp>
        <p:nvSpPr>
          <p:cNvPr id="19" name="Text 17"/>
          <p:cNvSpPr/>
          <p:nvPr/>
        </p:nvSpPr>
        <p:spPr>
          <a:xfrm>
            <a:off x="457200" y="4187952"/>
            <a:ext cx="502920" cy="329184"/>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−10</a:t>
            </a:r>
            <a:endParaRPr lang="en-US" sz="1100" dirty="0"/>
          </a:p>
        </p:txBody>
      </p:sp>
      <p:sp>
        <p:nvSpPr>
          <p:cNvPr id="20" name="Text 18"/>
          <p:cNvSpPr/>
          <p:nvPr/>
        </p:nvSpPr>
        <p:spPr>
          <a:xfrm>
            <a:off x="1078992" y="4224528"/>
            <a:ext cx="2834640" cy="274320"/>
          </a:xfrm>
          <a:prstGeom prst="rect">
            <a:avLst/>
          </a:prstGeom>
          <a:noFill/>
          <a:ln/>
        </p:spPr>
        <p:txBody>
          <a:bodyPr wrap="square" rtlCol="0" anchor="ctr"/>
          <a:lstStyle/>
          <a:p>
            <a:pPr marL="0" indent="0">
              <a:buNone/>
            </a:pPr>
            <a:r>
              <a:rPr lang="en-US" sz="1100" dirty="0">
                <a:solidFill>
                  <a:srgbClr val="E8EDF2"/>
                </a:solidFill>
                <a:latin typeface="Calibri" pitchFamily="34" charset="0"/>
                <a:ea typeface="Calibri" pitchFamily="34" charset="-122"/>
                <a:cs typeface="Calibri" pitchFamily="34" charset="-120"/>
              </a:rPr>
              <a:t>Military Attack</a:t>
            </a:r>
            <a:endParaRPr lang="en-US" sz="1100" dirty="0"/>
          </a:p>
        </p:txBody>
      </p:sp>
      <p:sp>
        <p:nvSpPr>
          <p:cNvPr id="21" name="Text 19"/>
          <p:cNvSpPr/>
          <p:nvPr/>
        </p:nvSpPr>
        <p:spPr>
          <a:xfrm>
            <a:off x="5029200" y="1874520"/>
            <a:ext cx="3657600" cy="256032"/>
          </a:xfrm>
          <a:prstGeom prst="rect">
            <a:avLst/>
          </a:prstGeom>
          <a:noFill/>
          <a:ln/>
        </p:spPr>
        <p:txBody>
          <a:bodyPr wrap="square" rtlCol="0" anchor="ctr"/>
          <a:lstStyle/>
          <a:p>
            <a:pPr marL="0" indent="0">
              <a:buNone/>
            </a:pPr>
            <a:r>
              <a:rPr lang="en-US" sz="900" b="1" kern="0" spc="300" dirty="0">
                <a:solidFill>
                  <a:srgbClr val="D4A017"/>
                </a:solidFill>
                <a:latin typeface="Calibri" pitchFamily="34" charset="0"/>
                <a:ea typeface="Calibri" pitchFamily="34" charset="-122"/>
                <a:cs typeface="Calibri" pitchFamily="34" charset="-120"/>
              </a:rPr>
              <a:t>DATA SOURCES</a:t>
            </a:r>
            <a:endParaRPr lang="en-US" sz="900" dirty="0"/>
          </a:p>
        </p:txBody>
      </p:sp>
      <p:sp>
        <p:nvSpPr>
          <p:cNvPr id="22" name="Shape 20"/>
          <p:cNvSpPr/>
          <p:nvPr/>
        </p:nvSpPr>
        <p:spPr>
          <a:xfrm>
            <a:off x="5029200" y="2212848"/>
            <a:ext cx="3749040" cy="594360"/>
          </a:xfrm>
          <a:prstGeom prst="rect">
            <a:avLst/>
          </a:prstGeom>
          <a:solidFill>
            <a:srgbClr val="0F2040"/>
          </a:solidFill>
          <a:ln w="9525">
            <a:solidFill>
              <a:srgbClr val="1A3A5C"/>
            </a:solidFill>
            <a:prstDash val="solid"/>
          </a:ln>
        </p:spPr>
        <p:txBody>
          <a:bodyPr/>
          <a:lstStyle/>
          <a:p>
            <a:endParaRPr lang="en-US"/>
          </a:p>
        </p:txBody>
      </p:sp>
      <p:sp>
        <p:nvSpPr>
          <p:cNvPr id="23" name="Text 21"/>
          <p:cNvSpPr/>
          <p:nvPr/>
        </p:nvSpPr>
        <p:spPr>
          <a:xfrm>
            <a:off x="5166360" y="2267712"/>
            <a:ext cx="1371600" cy="237744"/>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GDELT</a:t>
            </a:r>
            <a:endParaRPr lang="en-US" sz="1100" dirty="0"/>
          </a:p>
        </p:txBody>
      </p:sp>
      <p:sp>
        <p:nvSpPr>
          <p:cNvPr id="24" name="Text 22"/>
          <p:cNvSpPr/>
          <p:nvPr/>
        </p:nvSpPr>
        <p:spPr>
          <a:xfrm>
            <a:off x="5166360" y="2505456"/>
            <a:ext cx="3520440" cy="256032"/>
          </a:xfrm>
          <a:prstGeom prst="rect">
            <a:avLst/>
          </a:prstGeom>
          <a:noFill/>
          <a:ln/>
        </p:spPr>
        <p:txBody>
          <a:bodyPr wrap="square" rtlCol="0" anchor="ctr"/>
          <a:lstStyle/>
          <a:p>
            <a:pPr marL="0" indent="0">
              <a:buNone/>
            </a:pPr>
            <a:r>
              <a:rPr lang="en-US" sz="950" dirty="0">
                <a:solidFill>
                  <a:srgbClr val="8FA8C0"/>
                </a:solidFill>
                <a:latin typeface="Calibri" pitchFamily="34" charset="0"/>
                <a:ea typeface="Calibri" pitchFamily="34" charset="-122"/>
                <a:cs typeface="Calibri" pitchFamily="34" charset="-120"/>
              </a:rPr>
              <a:t>1.1M Pakistan dyadic events · Actor1=Pakistan · Actor2=USA or IRN · 2016–2026</a:t>
            </a:r>
            <a:endParaRPr lang="en-US" sz="950" dirty="0"/>
          </a:p>
        </p:txBody>
      </p:sp>
      <p:sp>
        <p:nvSpPr>
          <p:cNvPr id="25" name="Shape 23"/>
          <p:cNvSpPr/>
          <p:nvPr/>
        </p:nvSpPr>
        <p:spPr>
          <a:xfrm>
            <a:off x="5029200" y="2898648"/>
            <a:ext cx="3749040" cy="594360"/>
          </a:xfrm>
          <a:prstGeom prst="rect">
            <a:avLst/>
          </a:prstGeom>
          <a:solidFill>
            <a:srgbClr val="0F2040"/>
          </a:solidFill>
          <a:ln w="9525">
            <a:solidFill>
              <a:srgbClr val="1A3A5C"/>
            </a:solidFill>
            <a:prstDash val="solid"/>
          </a:ln>
        </p:spPr>
        <p:txBody>
          <a:bodyPr/>
          <a:lstStyle/>
          <a:p>
            <a:endParaRPr lang="en-US"/>
          </a:p>
        </p:txBody>
      </p:sp>
      <p:sp>
        <p:nvSpPr>
          <p:cNvPr id="26" name="Text 24"/>
          <p:cNvSpPr/>
          <p:nvPr/>
        </p:nvSpPr>
        <p:spPr>
          <a:xfrm>
            <a:off x="5166360" y="2953512"/>
            <a:ext cx="1371600" cy="237744"/>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ACLED</a:t>
            </a:r>
            <a:endParaRPr lang="en-US" sz="1100" dirty="0"/>
          </a:p>
        </p:txBody>
      </p:sp>
      <p:sp>
        <p:nvSpPr>
          <p:cNvPr id="27" name="Text 25"/>
          <p:cNvSpPr/>
          <p:nvPr/>
        </p:nvSpPr>
        <p:spPr>
          <a:xfrm>
            <a:off x="5166360" y="3191256"/>
            <a:ext cx="3520440" cy="256032"/>
          </a:xfrm>
          <a:prstGeom prst="rect">
            <a:avLst/>
          </a:prstGeom>
          <a:noFill/>
          <a:ln/>
        </p:spPr>
        <p:txBody>
          <a:bodyPr wrap="square" rtlCol="0" anchor="ctr"/>
          <a:lstStyle/>
          <a:p>
            <a:pPr marL="0" indent="0">
              <a:buNone/>
            </a:pPr>
            <a:r>
              <a:rPr lang="en-US" sz="950" dirty="0">
                <a:solidFill>
                  <a:srgbClr val="8FA8C0"/>
                </a:solidFill>
                <a:latin typeface="Calibri" pitchFamily="34" charset="0"/>
                <a:ea typeface="Calibri" pitchFamily="34" charset="-122"/>
                <a:cs typeface="Calibri" pitchFamily="34" charset="-120"/>
              </a:rPr>
              <a:t>Physical conflict context — 56K fatalities, 19K events on Pakistani soil</a:t>
            </a:r>
            <a:endParaRPr lang="en-US" sz="950" dirty="0"/>
          </a:p>
        </p:txBody>
      </p:sp>
      <p:sp>
        <p:nvSpPr>
          <p:cNvPr id="28" name="Shape 26"/>
          <p:cNvSpPr/>
          <p:nvPr/>
        </p:nvSpPr>
        <p:spPr>
          <a:xfrm>
            <a:off x="5029200" y="3584448"/>
            <a:ext cx="3749040" cy="594360"/>
          </a:xfrm>
          <a:prstGeom prst="rect">
            <a:avLst/>
          </a:prstGeom>
          <a:solidFill>
            <a:srgbClr val="0F2040"/>
          </a:solidFill>
          <a:ln w="9525">
            <a:solidFill>
              <a:srgbClr val="1A3A5C"/>
            </a:solidFill>
            <a:prstDash val="solid"/>
          </a:ln>
        </p:spPr>
        <p:txBody>
          <a:bodyPr/>
          <a:lstStyle/>
          <a:p>
            <a:endParaRPr lang="en-US"/>
          </a:p>
        </p:txBody>
      </p:sp>
      <p:sp>
        <p:nvSpPr>
          <p:cNvPr id="29" name="Text 27"/>
          <p:cNvSpPr/>
          <p:nvPr/>
        </p:nvSpPr>
        <p:spPr>
          <a:xfrm>
            <a:off x="5166360" y="3639312"/>
            <a:ext cx="1371600" cy="237744"/>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Dim_date</a:t>
            </a:r>
            <a:endParaRPr lang="en-US" sz="1100" dirty="0"/>
          </a:p>
        </p:txBody>
      </p:sp>
      <p:sp>
        <p:nvSpPr>
          <p:cNvPr id="30" name="Text 28"/>
          <p:cNvSpPr/>
          <p:nvPr/>
        </p:nvSpPr>
        <p:spPr>
          <a:xfrm>
            <a:off x="5166360" y="3877056"/>
            <a:ext cx="3520440" cy="256032"/>
          </a:xfrm>
          <a:prstGeom prst="rect">
            <a:avLst/>
          </a:prstGeom>
          <a:noFill/>
          <a:ln/>
        </p:spPr>
        <p:txBody>
          <a:bodyPr wrap="square" rtlCol="0" anchor="ctr"/>
          <a:lstStyle/>
          <a:p>
            <a:pPr marL="0" indent="0">
              <a:buNone/>
            </a:pPr>
            <a:r>
              <a:rPr lang="en-US" sz="950" dirty="0">
                <a:solidFill>
                  <a:srgbClr val="8FA8C0"/>
                </a:solidFill>
                <a:latin typeface="Calibri" pitchFamily="34" charset="0"/>
                <a:ea typeface="Calibri" pitchFamily="34" charset="-122"/>
                <a:cs typeface="Calibri" pitchFamily="34" charset="-120"/>
              </a:rPr>
              <a:t>Date dimension enabling daily, monthly, quarterly &amp; annual DAX time intelligence</a:t>
            </a:r>
            <a:endParaRPr lang="en-US" sz="950" dirty="0"/>
          </a:p>
        </p:txBody>
      </p:sp>
      <p:sp>
        <p:nvSpPr>
          <p:cNvPr id="31" name="Shape 29"/>
          <p:cNvSpPr/>
          <p:nvPr/>
        </p:nvSpPr>
        <p:spPr>
          <a:xfrm>
            <a:off x="5029200" y="4270248"/>
            <a:ext cx="3749040" cy="594360"/>
          </a:xfrm>
          <a:prstGeom prst="rect">
            <a:avLst/>
          </a:prstGeom>
          <a:solidFill>
            <a:srgbClr val="0F2040"/>
          </a:solidFill>
          <a:ln w="9525">
            <a:solidFill>
              <a:srgbClr val="1A3A5C"/>
            </a:solidFill>
            <a:prstDash val="solid"/>
          </a:ln>
        </p:spPr>
        <p:txBody>
          <a:bodyPr/>
          <a:lstStyle/>
          <a:p>
            <a:endParaRPr lang="en-US"/>
          </a:p>
        </p:txBody>
      </p:sp>
      <p:sp>
        <p:nvSpPr>
          <p:cNvPr id="32" name="Text 30"/>
          <p:cNvSpPr/>
          <p:nvPr/>
        </p:nvSpPr>
        <p:spPr>
          <a:xfrm>
            <a:off x="5166360" y="4325112"/>
            <a:ext cx="1371600" cy="237744"/>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Economic Data</a:t>
            </a:r>
            <a:endParaRPr lang="en-US" sz="1100" dirty="0"/>
          </a:p>
        </p:txBody>
      </p:sp>
      <p:sp>
        <p:nvSpPr>
          <p:cNvPr id="33" name="Text 31"/>
          <p:cNvSpPr/>
          <p:nvPr/>
        </p:nvSpPr>
        <p:spPr>
          <a:xfrm>
            <a:off x="5166360" y="4562856"/>
            <a:ext cx="3520440" cy="256032"/>
          </a:xfrm>
          <a:prstGeom prst="rect">
            <a:avLst/>
          </a:prstGeom>
          <a:noFill/>
          <a:ln/>
        </p:spPr>
        <p:txBody>
          <a:bodyPr wrap="square" rtlCol="0" anchor="ctr"/>
          <a:lstStyle/>
          <a:p>
            <a:pPr marL="0" indent="0">
              <a:buNone/>
            </a:pPr>
            <a:r>
              <a:rPr lang="en-US" sz="950" dirty="0">
                <a:solidFill>
                  <a:srgbClr val="8FA8C0"/>
                </a:solidFill>
                <a:latin typeface="Calibri" pitchFamily="34" charset="0"/>
                <a:ea typeface="Calibri" pitchFamily="34" charset="-122"/>
                <a:cs typeface="Calibri" pitchFamily="34" charset="-120"/>
              </a:rPr>
              <a:t>Dubai crude oil, Pakistan petrol prices, US gold reserves — economic pressure signals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FRAMEWORK DESIGN</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lgn="l">
              <a:buNone/>
            </a:pPr>
            <a:r>
              <a:rPr lang="en-US" sz="3400" b="1" dirty="0">
                <a:solidFill>
                  <a:srgbClr val="0A1628"/>
                </a:solidFill>
                <a:latin typeface="Georgia" pitchFamily="34" charset="0"/>
                <a:ea typeface="Georgia" pitchFamily="34" charset="-122"/>
                <a:cs typeface="Georgia" pitchFamily="34" charset="-120"/>
              </a:rPr>
              <a:t>10 Measures, One Question:</a:t>
            </a:r>
            <a:endParaRPr lang="en-US" sz="3400" dirty="0"/>
          </a:p>
        </p:txBody>
      </p:sp>
      <p:sp>
        <p:nvSpPr>
          <p:cNvPr id="4" name="Text 2"/>
          <p:cNvSpPr/>
          <p:nvPr/>
        </p:nvSpPr>
        <p:spPr>
          <a:xfrm>
            <a:off x="457200" y="1143000"/>
            <a:ext cx="8229600" cy="347472"/>
          </a:xfrm>
          <a:prstGeom prst="rect">
            <a:avLst/>
          </a:prstGeom>
          <a:noFill/>
          <a:ln/>
        </p:spPr>
        <p:txBody>
          <a:bodyPr wrap="square" rtlCol="0" anchor="ctr"/>
          <a:lstStyle/>
          <a:p>
            <a:pPr marL="0" indent="0" algn="l">
              <a:buNone/>
            </a:pPr>
            <a:r>
              <a:rPr lang="en-US" sz="1400" i="1" dirty="0">
                <a:solidFill>
                  <a:srgbClr val="1E5F8C"/>
                </a:solidFill>
                <a:latin typeface="Calibri" pitchFamily="34" charset="0"/>
                <a:ea typeface="Calibri" pitchFamily="34" charset="-122"/>
                <a:cs typeface="Calibri" pitchFamily="34" charset="-120"/>
              </a:rPr>
              <a:t>Was the conflict detectable before it happened?</a:t>
            </a:r>
            <a:endParaRPr lang="en-US" sz="1400" dirty="0"/>
          </a:p>
        </p:txBody>
      </p:sp>
      <p:sp>
        <p:nvSpPr>
          <p:cNvPr id="5" name="Shape 3"/>
          <p:cNvSpPr/>
          <p:nvPr/>
        </p:nvSpPr>
        <p:spPr>
          <a:xfrm>
            <a:off x="457200" y="1709928"/>
            <a:ext cx="384048" cy="384048"/>
          </a:xfrm>
          <a:prstGeom prst="ellipse">
            <a:avLst/>
          </a:prstGeom>
          <a:solidFill>
            <a:srgbClr val="2E86C1"/>
          </a:solidFill>
          <a:ln w="12700">
            <a:solidFill>
              <a:srgbClr val="2E86C1"/>
            </a:solidFill>
            <a:prstDash val="solid"/>
          </a:ln>
        </p:spPr>
        <p:txBody>
          <a:bodyPr/>
          <a:lstStyle/>
          <a:p>
            <a:endParaRPr lang="en-US"/>
          </a:p>
        </p:txBody>
      </p:sp>
      <p:sp>
        <p:nvSpPr>
          <p:cNvPr id="6" name="Text 4"/>
          <p:cNvSpPr/>
          <p:nvPr/>
        </p:nvSpPr>
        <p:spPr>
          <a:xfrm>
            <a:off x="457200"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7" name="Text 5"/>
          <p:cNvSpPr/>
          <p:nvPr/>
        </p:nvSpPr>
        <p:spPr>
          <a:xfrm>
            <a:off x="1005840" y="1655064"/>
            <a:ext cx="2286000" cy="25603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Bilateral Tone</a:t>
            </a:r>
            <a:endParaRPr lang="en-US" sz="1200" dirty="0"/>
          </a:p>
        </p:txBody>
      </p:sp>
      <p:sp>
        <p:nvSpPr>
          <p:cNvPr id="8" name="Text 6"/>
          <p:cNvSpPr/>
          <p:nvPr/>
        </p:nvSpPr>
        <p:spPr>
          <a:xfrm>
            <a:off x="1005840" y="1911096"/>
            <a:ext cx="7772400" cy="292608"/>
          </a:xfrm>
          <a:prstGeom prst="rect">
            <a:avLst/>
          </a:prstGeom>
          <a:noFill/>
          <a:ln/>
        </p:spPr>
        <p:txBody>
          <a:bodyPr wrap="square" rtlCol="0" anchor="ctr"/>
          <a:lstStyle/>
          <a:p>
            <a:pPr marL="0" indent="0">
              <a:buNone/>
            </a:pPr>
            <a:r>
              <a:rPr lang="en-US" sz="1050" dirty="0">
                <a:solidFill>
                  <a:srgbClr val="0A1628"/>
                </a:solidFill>
                <a:latin typeface="Calibri" pitchFamily="34" charset="0"/>
                <a:ea typeface="Calibri" pitchFamily="34" charset="-122"/>
                <a:cs typeface="Calibri" pitchFamily="34" charset="-120"/>
              </a:rPr>
              <a:t>Avg Goldstein score toward Iran &amp; USA separately. Positive = cooperative, negative = conflictual.</a:t>
            </a:r>
            <a:endParaRPr lang="en-US" sz="1050" dirty="0"/>
          </a:p>
        </p:txBody>
      </p:sp>
      <p:sp>
        <p:nvSpPr>
          <p:cNvPr id="9" name="Shape 7"/>
          <p:cNvSpPr/>
          <p:nvPr/>
        </p:nvSpPr>
        <p:spPr>
          <a:xfrm>
            <a:off x="457200" y="2377440"/>
            <a:ext cx="384048" cy="384048"/>
          </a:xfrm>
          <a:prstGeom prst="ellipse">
            <a:avLst/>
          </a:prstGeom>
          <a:solidFill>
            <a:srgbClr val="1E5F8C"/>
          </a:solidFill>
          <a:ln w="12700">
            <a:solidFill>
              <a:srgbClr val="1E5F8C"/>
            </a:solidFill>
            <a:prstDash val="solid"/>
          </a:ln>
        </p:spPr>
        <p:txBody>
          <a:bodyPr/>
          <a:lstStyle/>
          <a:p>
            <a:endParaRPr lang="en-US"/>
          </a:p>
        </p:txBody>
      </p:sp>
      <p:sp>
        <p:nvSpPr>
          <p:cNvPr id="10" name="Text 8"/>
          <p:cNvSpPr/>
          <p:nvPr/>
        </p:nvSpPr>
        <p:spPr>
          <a:xfrm>
            <a:off x="457200" y="2377440"/>
            <a:ext cx="384048" cy="384048"/>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1" name="Text 9"/>
          <p:cNvSpPr/>
          <p:nvPr/>
        </p:nvSpPr>
        <p:spPr>
          <a:xfrm>
            <a:off x="1005840" y="2322576"/>
            <a:ext cx="2286000" cy="25603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Lagged Tone + Momentum</a:t>
            </a:r>
            <a:endParaRPr lang="en-US" sz="1200" dirty="0"/>
          </a:p>
        </p:txBody>
      </p:sp>
      <p:sp>
        <p:nvSpPr>
          <p:cNvPr id="12" name="Text 10"/>
          <p:cNvSpPr/>
          <p:nvPr/>
        </p:nvSpPr>
        <p:spPr>
          <a:xfrm>
            <a:off x="1005840" y="2578608"/>
            <a:ext cx="7772400" cy="292608"/>
          </a:xfrm>
          <a:prstGeom prst="rect">
            <a:avLst/>
          </a:prstGeom>
          <a:noFill/>
          <a:ln/>
        </p:spPr>
        <p:txBody>
          <a:bodyPr wrap="square" rtlCol="0" anchor="ctr"/>
          <a:lstStyle/>
          <a:p>
            <a:pPr marL="0" indent="0">
              <a:buNone/>
            </a:pPr>
            <a:r>
              <a:rPr lang="en-US" sz="1050" dirty="0">
                <a:solidFill>
                  <a:srgbClr val="0A1628"/>
                </a:solidFill>
                <a:latin typeface="Calibri" pitchFamily="34" charset="0"/>
                <a:ea typeface="Calibri" pitchFamily="34" charset="-122"/>
                <a:cs typeface="Calibri" pitchFamily="34" charset="-120"/>
              </a:rPr>
              <a:t>Prior year's tone vs current year. When momentum turns negative on both sides simultaneously — the primary risk signal fires.</a:t>
            </a:r>
            <a:endParaRPr lang="en-US" sz="1050" dirty="0"/>
          </a:p>
        </p:txBody>
      </p:sp>
      <p:sp>
        <p:nvSpPr>
          <p:cNvPr id="13" name="Shape 11"/>
          <p:cNvSpPr/>
          <p:nvPr/>
        </p:nvSpPr>
        <p:spPr>
          <a:xfrm>
            <a:off x="457200" y="3044952"/>
            <a:ext cx="384048" cy="384048"/>
          </a:xfrm>
          <a:prstGeom prst="ellipse">
            <a:avLst/>
          </a:prstGeom>
          <a:solidFill>
            <a:srgbClr val="1A3A5C"/>
          </a:solidFill>
          <a:ln w="12700">
            <a:solidFill>
              <a:srgbClr val="1A3A5C"/>
            </a:solidFill>
            <a:prstDash val="solid"/>
          </a:ln>
        </p:spPr>
        <p:txBody>
          <a:bodyPr/>
          <a:lstStyle/>
          <a:p>
            <a:endParaRPr lang="en-US"/>
          </a:p>
        </p:txBody>
      </p:sp>
      <p:sp>
        <p:nvSpPr>
          <p:cNvPr id="14" name="Text 12"/>
          <p:cNvSpPr/>
          <p:nvPr/>
        </p:nvSpPr>
        <p:spPr>
          <a:xfrm>
            <a:off x="457200" y="3044952"/>
            <a:ext cx="384048" cy="384048"/>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5" name="Text 13"/>
          <p:cNvSpPr/>
          <p:nvPr/>
        </p:nvSpPr>
        <p:spPr>
          <a:xfrm>
            <a:off x="1005840" y="2990088"/>
            <a:ext cx="2286000" cy="25603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US–Iran Tension Proxy</a:t>
            </a:r>
            <a:endParaRPr lang="en-US" sz="1200" dirty="0"/>
          </a:p>
        </p:txBody>
      </p:sp>
      <p:sp>
        <p:nvSpPr>
          <p:cNvPr id="16" name="Text 14"/>
          <p:cNvSpPr/>
          <p:nvPr/>
        </p:nvSpPr>
        <p:spPr>
          <a:xfrm>
            <a:off x="1005840" y="3246120"/>
            <a:ext cx="7772400" cy="292608"/>
          </a:xfrm>
          <a:prstGeom prst="rect">
            <a:avLst/>
          </a:prstGeom>
          <a:noFill/>
          <a:ln/>
        </p:spPr>
        <p:txBody>
          <a:bodyPr wrap="square" rtlCol="0" anchor="ctr"/>
          <a:lstStyle/>
          <a:p>
            <a:pPr marL="0" indent="0">
              <a:buNone/>
            </a:pPr>
            <a:r>
              <a:rPr lang="en-US" sz="1050" dirty="0">
                <a:solidFill>
                  <a:srgbClr val="0A1628"/>
                </a:solidFill>
                <a:latin typeface="Calibri" pitchFamily="34" charset="0"/>
                <a:ea typeface="Calibri" pitchFamily="34" charset="-122"/>
                <a:cs typeface="Calibri" pitchFamily="34" charset="-120"/>
              </a:rPr>
              <a:t>ABS divergence between Pakistan–Iran tone and Pakistan–USA tone. High divergence = Pakistan is split = mediation window is closing.</a:t>
            </a:r>
            <a:endParaRPr lang="en-US" sz="1050" dirty="0"/>
          </a:p>
        </p:txBody>
      </p:sp>
      <p:sp>
        <p:nvSpPr>
          <p:cNvPr id="17" name="Shape 15"/>
          <p:cNvSpPr/>
          <p:nvPr/>
        </p:nvSpPr>
        <p:spPr>
          <a:xfrm>
            <a:off x="457200" y="3712464"/>
            <a:ext cx="384048" cy="384048"/>
          </a:xfrm>
          <a:prstGeom prst="ellipse">
            <a:avLst/>
          </a:prstGeom>
          <a:solidFill>
            <a:srgbClr val="D4A017"/>
          </a:solidFill>
          <a:ln w="12700">
            <a:solidFill>
              <a:srgbClr val="D4A017"/>
            </a:solidFill>
            <a:prstDash val="solid"/>
          </a:ln>
        </p:spPr>
        <p:txBody>
          <a:bodyPr/>
          <a:lstStyle/>
          <a:p>
            <a:endParaRPr lang="en-US"/>
          </a:p>
        </p:txBody>
      </p:sp>
      <p:sp>
        <p:nvSpPr>
          <p:cNvPr id="18" name="Text 16"/>
          <p:cNvSpPr/>
          <p:nvPr/>
        </p:nvSpPr>
        <p:spPr>
          <a:xfrm>
            <a:off x="457200" y="3712464"/>
            <a:ext cx="384048" cy="384048"/>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19" name="Text 17"/>
          <p:cNvSpPr/>
          <p:nvPr/>
        </p:nvSpPr>
        <p:spPr>
          <a:xfrm>
            <a:off x="1005840" y="3657600"/>
            <a:ext cx="2286000" cy="25603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Mediation Window Score</a:t>
            </a:r>
            <a:endParaRPr lang="en-US" sz="1200" dirty="0"/>
          </a:p>
        </p:txBody>
      </p:sp>
      <p:sp>
        <p:nvSpPr>
          <p:cNvPr id="20" name="Text 18"/>
          <p:cNvSpPr/>
          <p:nvPr/>
        </p:nvSpPr>
        <p:spPr>
          <a:xfrm>
            <a:off x="1005840" y="3913632"/>
            <a:ext cx="7772400" cy="292608"/>
          </a:xfrm>
          <a:prstGeom prst="rect">
            <a:avLst/>
          </a:prstGeom>
          <a:noFill/>
          <a:ln/>
        </p:spPr>
        <p:txBody>
          <a:bodyPr wrap="square" rtlCol="0" anchor="ctr"/>
          <a:lstStyle/>
          <a:p>
            <a:pPr marL="0" indent="0">
              <a:buNone/>
            </a:pPr>
            <a:r>
              <a:rPr lang="en-US" sz="1050" dirty="0">
                <a:solidFill>
                  <a:srgbClr val="0A1628"/>
                </a:solidFill>
                <a:latin typeface="Calibri" pitchFamily="34" charset="0"/>
                <a:ea typeface="Calibri" pitchFamily="34" charset="-122"/>
                <a:cs typeface="Calibri" pitchFamily="34" charset="-120"/>
              </a:rPr>
              <a:t>0–1 composite requiring BOTH relationships to be positive AND balanced. Score drops to 0 if either tone turns negative.</a:t>
            </a:r>
            <a:endParaRPr lang="en-US" sz="1050" dirty="0"/>
          </a:p>
        </p:txBody>
      </p:sp>
      <p:sp>
        <p:nvSpPr>
          <p:cNvPr id="21" name="Shape 19"/>
          <p:cNvSpPr/>
          <p:nvPr/>
        </p:nvSpPr>
        <p:spPr>
          <a:xfrm>
            <a:off x="457200" y="4379976"/>
            <a:ext cx="384048" cy="384048"/>
          </a:xfrm>
          <a:prstGeom prst="ellipse">
            <a:avLst/>
          </a:prstGeom>
          <a:solidFill>
            <a:srgbClr val="C0392B"/>
          </a:solidFill>
          <a:ln w="12700">
            <a:solidFill>
              <a:srgbClr val="C0392B"/>
            </a:solidFill>
            <a:prstDash val="solid"/>
          </a:ln>
        </p:spPr>
        <p:txBody>
          <a:bodyPr/>
          <a:lstStyle/>
          <a:p>
            <a:endParaRPr lang="en-US"/>
          </a:p>
        </p:txBody>
      </p:sp>
      <p:sp>
        <p:nvSpPr>
          <p:cNvPr id="22" name="Text 20"/>
          <p:cNvSpPr/>
          <p:nvPr/>
        </p:nvSpPr>
        <p:spPr>
          <a:xfrm>
            <a:off x="457200" y="4379976"/>
            <a:ext cx="384048" cy="384048"/>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23" name="Text 21"/>
          <p:cNvSpPr/>
          <p:nvPr/>
        </p:nvSpPr>
        <p:spPr>
          <a:xfrm>
            <a:off x="1005840" y="4325112"/>
            <a:ext cx="2286000" cy="25603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Pre-Crisis Signal + Conflict Risk Score</a:t>
            </a:r>
            <a:endParaRPr lang="en-US" sz="1200" dirty="0"/>
          </a:p>
        </p:txBody>
      </p:sp>
      <p:sp>
        <p:nvSpPr>
          <p:cNvPr id="24" name="Text 22"/>
          <p:cNvSpPr/>
          <p:nvPr/>
        </p:nvSpPr>
        <p:spPr>
          <a:xfrm>
            <a:off x="1005840" y="4581144"/>
            <a:ext cx="7772400" cy="292608"/>
          </a:xfrm>
          <a:prstGeom prst="rect">
            <a:avLst/>
          </a:prstGeom>
          <a:noFill/>
          <a:ln/>
        </p:spPr>
        <p:txBody>
          <a:bodyPr wrap="square" rtlCol="0" anchor="ctr"/>
          <a:lstStyle/>
          <a:p>
            <a:pPr marL="0" indent="0">
              <a:buNone/>
            </a:pPr>
            <a:r>
              <a:rPr lang="en-US" sz="1050" dirty="0">
                <a:solidFill>
                  <a:srgbClr val="0A1628"/>
                </a:solidFill>
                <a:latin typeface="Calibri" pitchFamily="34" charset="0"/>
                <a:ea typeface="Calibri" pitchFamily="34" charset="-122"/>
                <a:cs typeface="Calibri" pitchFamily="34" charset="-120"/>
              </a:rPr>
              <a:t>Composite 0–4 risk index: +2 if both momentums fall, +1 if divergence &gt;1, +1 if mediation window &lt;0.3. Max score = 4. Hit 4/4 in 2024.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DASHBOARD: PAKISTAN'S GEOPOLITICAL POSITION</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lgn="l">
              <a:buNone/>
            </a:pPr>
            <a:r>
              <a:rPr lang="en-US" sz="3400" b="1" dirty="0">
                <a:solidFill>
                  <a:srgbClr val="0A1628"/>
                </a:solidFill>
                <a:latin typeface="Georgia" pitchFamily="34" charset="0"/>
                <a:ea typeface="Georgia" pitchFamily="34" charset="-122"/>
                <a:cs typeface="Georgia" pitchFamily="34" charset="-120"/>
              </a:rPr>
              <a:t>Is Pakistan Balanced Enough to Mediate?</a:t>
            </a:r>
            <a:endParaRPr lang="en-US" sz="3400" dirty="0"/>
          </a:p>
        </p:txBody>
      </p:sp>
      <p:sp>
        <p:nvSpPr>
          <p:cNvPr id="4" name="Text 2"/>
          <p:cNvSpPr/>
          <p:nvPr/>
        </p:nvSpPr>
        <p:spPr>
          <a:xfrm>
            <a:off x="457200" y="1143000"/>
            <a:ext cx="8229600" cy="347472"/>
          </a:xfrm>
          <a:prstGeom prst="rect">
            <a:avLst/>
          </a:prstGeom>
          <a:noFill/>
          <a:ln/>
        </p:spPr>
        <p:txBody>
          <a:bodyPr wrap="square" rtlCol="0" anchor="ctr"/>
          <a:lstStyle/>
          <a:p>
            <a:pPr marL="0" indent="0" algn="l">
              <a:buNone/>
            </a:pPr>
            <a:r>
              <a:rPr lang="en-US" sz="1400" i="1" dirty="0">
                <a:solidFill>
                  <a:srgbClr val="1E5F8C"/>
                </a:solidFill>
                <a:latin typeface="Calibri" pitchFamily="34" charset="0"/>
                <a:ea typeface="Calibri" pitchFamily="34" charset="-122"/>
                <a:cs typeface="Calibri" pitchFamily="34" charset="-120"/>
              </a:rPr>
              <a:t>Before the framework can work, Pakistan must genuinely occupy a neutral position.</a:t>
            </a:r>
            <a:endParaRPr lang="en-US" sz="1400" dirty="0"/>
          </a:p>
        </p:txBody>
      </p:sp>
      <p:sp>
        <p:nvSpPr>
          <p:cNvPr id="5" name="Shape 3"/>
          <p:cNvSpPr/>
          <p:nvPr/>
        </p:nvSpPr>
        <p:spPr>
          <a:xfrm>
            <a:off x="457200" y="1600200"/>
            <a:ext cx="1920240" cy="91440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600200"/>
            <a:ext cx="64008" cy="914400"/>
          </a:xfrm>
          <a:prstGeom prst="rect">
            <a:avLst/>
          </a:prstGeom>
          <a:solidFill>
            <a:srgbClr val="1A7A4A"/>
          </a:solidFill>
          <a:ln w="12700">
            <a:solidFill>
              <a:srgbClr val="1A7A4A"/>
            </a:solidFill>
            <a:prstDash val="solid"/>
          </a:ln>
        </p:spPr>
        <p:txBody>
          <a:bodyPr/>
          <a:lstStyle/>
          <a:p>
            <a:endParaRPr lang="en-US"/>
          </a:p>
        </p:txBody>
      </p:sp>
      <p:sp>
        <p:nvSpPr>
          <p:cNvPr id="7" name="Text 5"/>
          <p:cNvSpPr/>
          <p:nvPr/>
        </p:nvSpPr>
        <p:spPr>
          <a:xfrm>
            <a:off x="621792" y="1709928"/>
            <a:ext cx="1691640" cy="50292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+1.19</a:t>
            </a:r>
            <a:endParaRPr lang="en-US" sz="2800" dirty="0"/>
          </a:p>
        </p:txBody>
      </p:sp>
      <p:sp>
        <p:nvSpPr>
          <p:cNvPr id="8" name="Text 6"/>
          <p:cNvSpPr/>
          <p:nvPr/>
        </p:nvSpPr>
        <p:spPr>
          <a:xfrm>
            <a:off x="621792" y="2148840"/>
            <a:ext cx="1691640" cy="320040"/>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Avg Tone vs Iran</a:t>
            </a:r>
            <a:endParaRPr lang="en-US" sz="1000" dirty="0"/>
          </a:p>
        </p:txBody>
      </p:sp>
      <p:sp>
        <p:nvSpPr>
          <p:cNvPr id="9" name="Shape 7"/>
          <p:cNvSpPr/>
          <p:nvPr/>
        </p:nvSpPr>
        <p:spPr>
          <a:xfrm>
            <a:off x="2514600" y="1600200"/>
            <a:ext cx="1920240" cy="91440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2514600" y="1600200"/>
            <a:ext cx="64008" cy="914400"/>
          </a:xfrm>
          <a:prstGeom prst="rect">
            <a:avLst/>
          </a:prstGeom>
          <a:solidFill>
            <a:srgbClr val="2E86C1"/>
          </a:solidFill>
          <a:ln w="12700">
            <a:solidFill>
              <a:srgbClr val="2E86C1"/>
            </a:solidFill>
            <a:prstDash val="solid"/>
          </a:ln>
        </p:spPr>
        <p:txBody>
          <a:bodyPr/>
          <a:lstStyle/>
          <a:p>
            <a:endParaRPr lang="en-US"/>
          </a:p>
        </p:txBody>
      </p:sp>
      <p:sp>
        <p:nvSpPr>
          <p:cNvPr id="11" name="Text 9"/>
          <p:cNvSpPr/>
          <p:nvPr/>
        </p:nvSpPr>
        <p:spPr>
          <a:xfrm>
            <a:off x="2679192" y="1709928"/>
            <a:ext cx="1691640" cy="50292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+0.78</a:t>
            </a:r>
            <a:endParaRPr lang="en-US" sz="2800" dirty="0"/>
          </a:p>
        </p:txBody>
      </p:sp>
      <p:sp>
        <p:nvSpPr>
          <p:cNvPr id="12" name="Text 10"/>
          <p:cNvSpPr/>
          <p:nvPr/>
        </p:nvSpPr>
        <p:spPr>
          <a:xfrm>
            <a:off x="2679192" y="2148840"/>
            <a:ext cx="1691640" cy="320040"/>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Avg Tone vs USA</a:t>
            </a:r>
            <a:endParaRPr lang="en-US" sz="1000" dirty="0"/>
          </a:p>
        </p:txBody>
      </p:sp>
      <p:sp>
        <p:nvSpPr>
          <p:cNvPr id="13" name="Shape 11"/>
          <p:cNvSpPr/>
          <p:nvPr/>
        </p:nvSpPr>
        <p:spPr>
          <a:xfrm>
            <a:off x="4572000" y="1600200"/>
            <a:ext cx="1920240" cy="91440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4572000" y="1600200"/>
            <a:ext cx="64008" cy="914400"/>
          </a:xfrm>
          <a:prstGeom prst="rect">
            <a:avLst/>
          </a:prstGeom>
          <a:solidFill>
            <a:srgbClr val="C0392B"/>
          </a:solidFill>
          <a:ln w="12700">
            <a:solidFill>
              <a:srgbClr val="C0392B"/>
            </a:solidFill>
            <a:prstDash val="solid"/>
          </a:ln>
        </p:spPr>
        <p:txBody>
          <a:bodyPr/>
          <a:lstStyle/>
          <a:p>
            <a:endParaRPr lang="en-US"/>
          </a:p>
        </p:txBody>
      </p:sp>
      <p:sp>
        <p:nvSpPr>
          <p:cNvPr id="15" name="Text 13"/>
          <p:cNvSpPr/>
          <p:nvPr/>
        </p:nvSpPr>
        <p:spPr>
          <a:xfrm>
            <a:off x="4736592" y="1709928"/>
            <a:ext cx="1691640" cy="50292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−0.81</a:t>
            </a:r>
            <a:endParaRPr lang="en-US" sz="2800" dirty="0"/>
          </a:p>
        </p:txBody>
      </p:sp>
      <p:sp>
        <p:nvSpPr>
          <p:cNvPr id="16" name="Text 14"/>
          <p:cNvSpPr/>
          <p:nvPr/>
        </p:nvSpPr>
        <p:spPr>
          <a:xfrm>
            <a:off x="4736592" y="2148840"/>
            <a:ext cx="1691640" cy="320040"/>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Avg Tone vs India</a:t>
            </a:r>
            <a:endParaRPr lang="en-US" sz="1000" dirty="0"/>
          </a:p>
        </p:txBody>
      </p:sp>
      <p:sp>
        <p:nvSpPr>
          <p:cNvPr id="17" name="Shape 15"/>
          <p:cNvSpPr/>
          <p:nvPr/>
        </p:nvSpPr>
        <p:spPr>
          <a:xfrm>
            <a:off x="6629400" y="1600200"/>
            <a:ext cx="1920240" cy="91440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6629400" y="1600200"/>
            <a:ext cx="64008" cy="914400"/>
          </a:xfrm>
          <a:prstGeom prst="rect">
            <a:avLst/>
          </a:prstGeom>
          <a:solidFill>
            <a:srgbClr val="D4A017"/>
          </a:solidFill>
          <a:ln w="12700">
            <a:solidFill>
              <a:srgbClr val="D4A017"/>
            </a:solidFill>
            <a:prstDash val="solid"/>
          </a:ln>
        </p:spPr>
        <p:txBody>
          <a:bodyPr/>
          <a:lstStyle/>
          <a:p>
            <a:endParaRPr lang="en-US"/>
          </a:p>
        </p:txBody>
      </p:sp>
      <p:sp>
        <p:nvSpPr>
          <p:cNvPr id="19" name="Text 17"/>
          <p:cNvSpPr/>
          <p:nvPr/>
        </p:nvSpPr>
        <p:spPr>
          <a:xfrm>
            <a:off x="6793992" y="1709928"/>
            <a:ext cx="1691640" cy="50292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0.80</a:t>
            </a:r>
            <a:endParaRPr lang="en-US" sz="2800" dirty="0"/>
          </a:p>
        </p:txBody>
      </p:sp>
      <p:sp>
        <p:nvSpPr>
          <p:cNvPr id="20" name="Text 18"/>
          <p:cNvSpPr/>
          <p:nvPr/>
        </p:nvSpPr>
        <p:spPr>
          <a:xfrm>
            <a:off x="6793992" y="2148840"/>
            <a:ext cx="1691640" cy="320040"/>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Mediation Window Score</a:t>
            </a:r>
            <a:endParaRPr lang="en-US" sz="1000" dirty="0"/>
          </a:p>
        </p:txBody>
      </p:sp>
      <p:sp>
        <p:nvSpPr>
          <p:cNvPr id="21" name="Text 19"/>
          <p:cNvSpPr/>
          <p:nvPr/>
        </p:nvSpPr>
        <p:spPr>
          <a:xfrm>
            <a:off x="457200" y="2679192"/>
            <a:ext cx="8229600" cy="62179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The data confirms the dual-positive condition. Pakistan maintains warm diplomatic signals toward both Iran and the USA — the only major relationship in negative territory is India (−0.81), confirming that the India–Pakistan rivalry is the dominant structural constraint on Pakistani foreign policy, not the US–Iran axis.</a:t>
            </a:r>
            <a:endParaRPr lang="en-US" sz="1200" dirty="0"/>
          </a:p>
        </p:txBody>
      </p:sp>
      <p:sp>
        <p:nvSpPr>
          <p:cNvPr id="22" name="Shape 20"/>
          <p:cNvSpPr/>
          <p:nvPr/>
        </p:nvSpPr>
        <p:spPr>
          <a:xfrm>
            <a:off x="457200" y="2660904"/>
            <a:ext cx="54864" cy="621792"/>
          </a:xfrm>
          <a:prstGeom prst="rect">
            <a:avLst/>
          </a:prstGeom>
          <a:solidFill>
            <a:srgbClr val="1E5F8C"/>
          </a:solidFill>
          <a:ln w="12700">
            <a:solidFill>
              <a:srgbClr val="1E5F8C"/>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DASHBOARD: ECONOMIC PRESSURE AS A CONFLICT PREDICTOR</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lgn="l">
              <a:buNone/>
            </a:pPr>
            <a:r>
              <a:rPr lang="en-US" sz="3400" b="1" dirty="0">
                <a:solidFill>
                  <a:srgbClr val="0A1628"/>
                </a:solidFill>
                <a:latin typeface="Georgia" pitchFamily="34" charset="0"/>
                <a:ea typeface="Georgia" pitchFamily="34" charset="-122"/>
                <a:cs typeface="Georgia" pitchFamily="34" charset="-120"/>
              </a:rPr>
              <a:t>Were Markets Pricing In the</a:t>
            </a:r>
            <a:endParaRPr lang="en-US" sz="3400" dirty="0"/>
          </a:p>
          <a:p>
            <a:pPr marL="0" indent="0" algn="l">
              <a:buNone/>
            </a:pPr>
            <a:r>
              <a:rPr lang="en-US" sz="3400" b="1" dirty="0">
                <a:solidFill>
                  <a:srgbClr val="0A1628"/>
                </a:solidFill>
                <a:latin typeface="Georgia" pitchFamily="34" charset="0"/>
                <a:ea typeface="Georgia" pitchFamily="34" charset="-122"/>
                <a:cs typeface="Georgia" pitchFamily="34" charset="-120"/>
              </a:rPr>
              <a:t>Conflict Before Diplomats Saw It?</a:t>
            </a:r>
            <a:endParaRPr lang="en-US" sz="3400" dirty="0"/>
          </a:p>
        </p:txBody>
      </p:sp>
      <p:sp>
        <p:nvSpPr>
          <p:cNvPr id="4" name="Text 2"/>
          <p:cNvSpPr/>
          <p:nvPr/>
        </p:nvSpPr>
        <p:spPr>
          <a:xfrm>
            <a:off x="457200" y="1143000"/>
            <a:ext cx="8229600" cy="347472"/>
          </a:xfrm>
          <a:prstGeom prst="rect">
            <a:avLst/>
          </a:prstGeom>
          <a:noFill/>
          <a:ln/>
        </p:spPr>
        <p:txBody>
          <a:bodyPr wrap="square" rtlCol="0" anchor="ctr"/>
          <a:lstStyle/>
          <a:p>
            <a:pPr marL="0" indent="0" algn="l">
              <a:buNone/>
            </a:pPr>
            <a:r>
              <a:rPr lang="en-US" sz="1400" i="1" dirty="0">
                <a:solidFill>
                  <a:srgbClr val="1E5F8C"/>
                </a:solidFill>
                <a:latin typeface="Calibri" pitchFamily="34" charset="0"/>
                <a:ea typeface="Calibri" pitchFamily="34" charset="-122"/>
                <a:cs typeface="Calibri" pitchFamily="34" charset="-120"/>
              </a:rPr>
              <a:t>Energy prices as a leading indicator of diplomatic deterioration.</a:t>
            </a:r>
            <a:endParaRPr lang="en-US" sz="1400" dirty="0"/>
          </a:p>
        </p:txBody>
      </p:sp>
      <p:sp>
        <p:nvSpPr>
          <p:cNvPr id="5" name="Shape 3"/>
          <p:cNvSpPr/>
          <p:nvPr/>
        </p:nvSpPr>
        <p:spPr>
          <a:xfrm>
            <a:off x="457200" y="1572768"/>
            <a:ext cx="1874520" cy="804672"/>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572768"/>
            <a:ext cx="64008" cy="804672"/>
          </a:xfrm>
          <a:prstGeom prst="rect">
            <a:avLst/>
          </a:prstGeom>
          <a:solidFill>
            <a:srgbClr val="D4A017"/>
          </a:solidFill>
          <a:ln w="12700">
            <a:solidFill>
              <a:srgbClr val="D4A017"/>
            </a:solidFill>
            <a:prstDash val="solid"/>
          </a:ln>
        </p:spPr>
        <p:txBody>
          <a:bodyPr/>
          <a:lstStyle/>
          <a:p>
            <a:endParaRPr lang="en-US"/>
          </a:p>
        </p:txBody>
      </p:sp>
      <p:sp>
        <p:nvSpPr>
          <p:cNvPr id="7" name="Text 5"/>
          <p:cNvSpPr/>
          <p:nvPr/>
        </p:nvSpPr>
        <p:spPr>
          <a:xfrm>
            <a:off x="621792" y="1682496"/>
            <a:ext cx="1645920" cy="44257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$2,390</a:t>
            </a:r>
            <a:endParaRPr lang="en-US" sz="2800" dirty="0"/>
          </a:p>
        </p:txBody>
      </p:sp>
      <p:sp>
        <p:nvSpPr>
          <p:cNvPr id="8" name="Text 6"/>
          <p:cNvSpPr/>
          <p:nvPr/>
        </p:nvSpPr>
        <p:spPr>
          <a:xfrm>
            <a:off x="621792" y="2055571"/>
            <a:ext cx="1645920" cy="281635"/>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Gold at 2024 Tension Peak</a:t>
            </a:r>
            <a:endParaRPr lang="en-US" sz="1000" dirty="0"/>
          </a:p>
        </p:txBody>
      </p:sp>
      <p:sp>
        <p:nvSpPr>
          <p:cNvPr id="9" name="Shape 7"/>
          <p:cNvSpPr/>
          <p:nvPr/>
        </p:nvSpPr>
        <p:spPr>
          <a:xfrm>
            <a:off x="2468880" y="1572768"/>
            <a:ext cx="1874520" cy="804672"/>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2468880" y="1572768"/>
            <a:ext cx="64008" cy="804672"/>
          </a:xfrm>
          <a:prstGeom prst="rect">
            <a:avLst/>
          </a:prstGeom>
          <a:solidFill>
            <a:srgbClr val="C0392B"/>
          </a:solidFill>
          <a:ln w="12700">
            <a:solidFill>
              <a:srgbClr val="C0392B"/>
            </a:solidFill>
            <a:prstDash val="solid"/>
          </a:ln>
        </p:spPr>
        <p:txBody>
          <a:bodyPr/>
          <a:lstStyle/>
          <a:p>
            <a:endParaRPr lang="en-US"/>
          </a:p>
        </p:txBody>
      </p:sp>
      <p:sp>
        <p:nvSpPr>
          <p:cNvPr id="11" name="Text 9"/>
          <p:cNvSpPr/>
          <p:nvPr/>
        </p:nvSpPr>
        <p:spPr>
          <a:xfrm>
            <a:off x="2633472" y="1682496"/>
            <a:ext cx="1645920" cy="44257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$4,750</a:t>
            </a:r>
            <a:endParaRPr lang="en-US" sz="2800" dirty="0"/>
          </a:p>
        </p:txBody>
      </p:sp>
      <p:sp>
        <p:nvSpPr>
          <p:cNvPr id="12" name="Text 10"/>
          <p:cNvSpPr/>
          <p:nvPr/>
        </p:nvSpPr>
        <p:spPr>
          <a:xfrm>
            <a:off x="2633472" y="2055571"/>
            <a:ext cx="1645920" cy="281635"/>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Gold at 2026 Conflict Start</a:t>
            </a:r>
            <a:endParaRPr lang="en-US" sz="1000" dirty="0"/>
          </a:p>
        </p:txBody>
      </p:sp>
      <p:sp>
        <p:nvSpPr>
          <p:cNvPr id="13" name="Shape 11"/>
          <p:cNvSpPr/>
          <p:nvPr/>
        </p:nvSpPr>
        <p:spPr>
          <a:xfrm>
            <a:off x="4480560" y="1572768"/>
            <a:ext cx="1874520" cy="804672"/>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4480560" y="1572768"/>
            <a:ext cx="64008" cy="804672"/>
          </a:xfrm>
          <a:prstGeom prst="rect">
            <a:avLst/>
          </a:prstGeom>
          <a:solidFill>
            <a:srgbClr val="1E5F8C"/>
          </a:solidFill>
          <a:ln w="12700">
            <a:solidFill>
              <a:srgbClr val="1E5F8C"/>
            </a:solidFill>
            <a:prstDash val="solid"/>
          </a:ln>
        </p:spPr>
        <p:txBody>
          <a:bodyPr/>
          <a:lstStyle/>
          <a:p>
            <a:endParaRPr lang="en-US"/>
          </a:p>
        </p:txBody>
      </p:sp>
      <p:sp>
        <p:nvSpPr>
          <p:cNvPr id="15" name="Text 13"/>
          <p:cNvSpPr/>
          <p:nvPr/>
        </p:nvSpPr>
        <p:spPr>
          <a:xfrm>
            <a:off x="4645152" y="1682496"/>
            <a:ext cx="1645920" cy="44257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$79.61</a:t>
            </a:r>
            <a:endParaRPr lang="en-US" sz="2800" dirty="0"/>
          </a:p>
        </p:txBody>
      </p:sp>
      <p:sp>
        <p:nvSpPr>
          <p:cNvPr id="16" name="Text 14"/>
          <p:cNvSpPr/>
          <p:nvPr/>
        </p:nvSpPr>
        <p:spPr>
          <a:xfrm>
            <a:off x="4645152" y="2055571"/>
            <a:ext cx="1645920" cy="281635"/>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Oil at 2024 Tension Peak</a:t>
            </a:r>
            <a:endParaRPr lang="en-US" sz="1000" dirty="0"/>
          </a:p>
        </p:txBody>
      </p:sp>
      <p:sp>
        <p:nvSpPr>
          <p:cNvPr id="17" name="Shape 15"/>
          <p:cNvSpPr/>
          <p:nvPr/>
        </p:nvSpPr>
        <p:spPr>
          <a:xfrm>
            <a:off x="6492240" y="1572768"/>
            <a:ext cx="1874520" cy="804672"/>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6492240" y="1572768"/>
            <a:ext cx="64008" cy="804672"/>
          </a:xfrm>
          <a:prstGeom prst="rect">
            <a:avLst/>
          </a:prstGeom>
          <a:solidFill>
            <a:srgbClr val="C0392B"/>
          </a:solidFill>
          <a:ln w="12700">
            <a:solidFill>
              <a:srgbClr val="C0392B"/>
            </a:solidFill>
            <a:prstDash val="solid"/>
          </a:ln>
        </p:spPr>
        <p:txBody>
          <a:bodyPr/>
          <a:lstStyle/>
          <a:p>
            <a:endParaRPr lang="en-US"/>
          </a:p>
        </p:txBody>
      </p:sp>
      <p:sp>
        <p:nvSpPr>
          <p:cNvPr id="19" name="Text 17"/>
          <p:cNvSpPr/>
          <p:nvPr/>
        </p:nvSpPr>
        <p:spPr>
          <a:xfrm>
            <a:off x="6656832" y="1682496"/>
            <a:ext cx="1645920" cy="442570"/>
          </a:xfrm>
          <a:prstGeom prst="rect">
            <a:avLst/>
          </a:prstGeom>
          <a:noFill/>
          <a:ln/>
        </p:spPr>
        <p:txBody>
          <a:bodyPr wrap="square" rtlCol="0" anchor="ctr"/>
          <a:lstStyle/>
          <a:p>
            <a:pPr marL="0" indent="0">
              <a:buNone/>
            </a:pPr>
            <a:r>
              <a:rPr lang="en-US" sz="2800" b="1" dirty="0">
                <a:solidFill>
                  <a:srgbClr val="0A1628"/>
                </a:solidFill>
                <a:latin typeface="Georgia" pitchFamily="34" charset="0"/>
                <a:ea typeface="Georgia" pitchFamily="34" charset="-122"/>
                <a:cs typeface="Georgia" pitchFamily="34" charset="-120"/>
              </a:rPr>
              <a:t>$91.22</a:t>
            </a:r>
            <a:endParaRPr lang="en-US" sz="2800" dirty="0"/>
          </a:p>
        </p:txBody>
      </p:sp>
      <p:sp>
        <p:nvSpPr>
          <p:cNvPr id="20" name="Text 18"/>
          <p:cNvSpPr/>
          <p:nvPr/>
        </p:nvSpPr>
        <p:spPr>
          <a:xfrm>
            <a:off x="6656832" y="2055571"/>
            <a:ext cx="1645920" cy="281635"/>
          </a:xfrm>
          <a:prstGeom prst="rect">
            <a:avLst/>
          </a:prstGeom>
          <a:noFill/>
          <a:ln/>
        </p:spPr>
        <p:txBody>
          <a:bodyPr wrap="square" rtlCol="0" anchor="t"/>
          <a:lstStyle/>
          <a:p>
            <a:pPr marL="0" indent="0">
              <a:buNone/>
            </a:pPr>
            <a:r>
              <a:rPr lang="en-US" sz="1000" dirty="0">
                <a:solidFill>
                  <a:srgbClr val="1E5F8C"/>
                </a:solidFill>
                <a:latin typeface="Calibri" pitchFamily="34" charset="0"/>
                <a:ea typeface="Calibri" pitchFamily="34" charset="-122"/>
                <a:cs typeface="Calibri" pitchFamily="34" charset="-120"/>
              </a:rPr>
              <a:t>Oil at 2026 Conflict Start</a:t>
            </a:r>
            <a:endParaRPr lang="en-US" sz="1000" dirty="0"/>
          </a:p>
        </p:txBody>
      </p:sp>
      <p:sp>
        <p:nvSpPr>
          <p:cNvPr id="21" name="Text 19"/>
          <p:cNvSpPr/>
          <p:nvPr/>
        </p:nvSpPr>
        <p:spPr>
          <a:xfrm>
            <a:off x="457200" y="2514600"/>
            <a:ext cx="8229600" cy="868680"/>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The petrol-tension chart shows a consistent inverse relationship: as Pakistan's domestic fuel prices climbed steadily from 2020 onward, the US–Iran tension proxy deteriorated in parallel. Oil-dependent economies under price pressure historically reduce cooperative foreign policy gestures while increasing adversarial positioning. The data reflects exactly this pattern across 2021–2024 — the window where an economically-grounded early warning model would have flagged escalating risk.</a:t>
            </a:r>
            <a:endParaRPr lang="en-US" sz="1200" dirty="0"/>
          </a:p>
        </p:txBody>
      </p:sp>
      <p:sp>
        <p:nvSpPr>
          <p:cNvPr id="22" name="Shape 20"/>
          <p:cNvSpPr/>
          <p:nvPr/>
        </p:nvSpPr>
        <p:spPr>
          <a:xfrm>
            <a:off x="457200" y="2496312"/>
            <a:ext cx="54864" cy="868680"/>
          </a:xfrm>
          <a:prstGeom prst="rect">
            <a:avLst/>
          </a:prstGeom>
          <a:solidFill>
            <a:srgbClr val="D4A017"/>
          </a:solidFill>
          <a:ln w="12700">
            <a:solidFill>
              <a:srgbClr val="D4A017"/>
            </a:solidFill>
            <a:prstDash val="solid"/>
          </a:ln>
        </p:spPr>
        <p:txBody>
          <a:bodyPr/>
          <a:lstStyle/>
          <a:p>
            <a:endParaRPr lang="en-US"/>
          </a:p>
        </p:txBody>
      </p:sp>
      <p:graphicFrame>
        <p:nvGraphicFramePr>
          <p:cNvPr id="23" name="Chart 0"/>
          <p:cNvGraphicFramePr/>
          <p:nvPr/>
        </p:nvGraphicFramePr>
        <p:xfrm>
          <a:off x="457200" y="3493008"/>
          <a:ext cx="4114800" cy="14813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1"/>
          <p:cNvGraphicFramePr/>
          <p:nvPr/>
        </p:nvGraphicFramePr>
        <p:xfrm>
          <a:off x="4754880" y="3493008"/>
          <a:ext cx="4023360" cy="148132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DASHBOARD: EARLY WARNING SIGNALS</a:t>
            </a:r>
            <a:endParaRPr lang="en-US" sz="900" dirty="0"/>
          </a:p>
        </p:txBody>
      </p:sp>
      <p:sp>
        <p:nvSpPr>
          <p:cNvPr id="3" name="Text 1"/>
          <p:cNvSpPr/>
          <p:nvPr/>
        </p:nvSpPr>
        <p:spPr>
          <a:xfrm>
            <a:off x="457200" y="502920"/>
            <a:ext cx="8229600" cy="731520"/>
          </a:xfrm>
          <a:prstGeom prst="rect">
            <a:avLst/>
          </a:prstGeom>
          <a:noFill/>
          <a:ln/>
        </p:spPr>
        <p:txBody>
          <a:bodyPr wrap="square"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2024: The Year Every Warning</a:t>
            </a:r>
            <a:endParaRPr lang="en-US" sz="3600" dirty="0"/>
          </a:p>
          <a:p>
            <a:pPr marL="0" indent="0" algn="l">
              <a:buNone/>
            </a:pPr>
            <a:r>
              <a:rPr lang="en-US" sz="3600" b="1" dirty="0">
                <a:solidFill>
                  <a:srgbClr val="FFFFFF"/>
                </a:solidFill>
                <a:latin typeface="Georgia" pitchFamily="34" charset="0"/>
                <a:ea typeface="Georgia" pitchFamily="34" charset="-122"/>
                <a:cs typeface="Georgia" pitchFamily="34" charset="-120"/>
              </a:rPr>
              <a:t>Signal Fired Simultaneously</a:t>
            </a:r>
            <a:endParaRPr lang="en-US" sz="3600" dirty="0"/>
          </a:p>
        </p:txBody>
      </p:sp>
      <p:sp>
        <p:nvSpPr>
          <p:cNvPr id="4" name="Text 2"/>
          <p:cNvSpPr/>
          <p:nvPr/>
        </p:nvSpPr>
        <p:spPr>
          <a:xfrm>
            <a:off x="457200" y="1325880"/>
            <a:ext cx="8229600" cy="411480"/>
          </a:xfrm>
          <a:prstGeom prst="rect">
            <a:avLst/>
          </a:prstGeom>
          <a:noFill/>
          <a:ln/>
        </p:spPr>
        <p:txBody>
          <a:bodyPr wrap="square" rtlCol="0" anchor="ctr"/>
          <a:lstStyle/>
          <a:p>
            <a:pPr marL="0" indent="0" algn="l">
              <a:buNone/>
            </a:pPr>
            <a:r>
              <a:rPr lang="en-US" sz="1500" i="1" dirty="0">
                <a:solidFill>
                  <a:srgbClr val="8FA8C0"/>
                </a:solidFill>
                <a:latin typeface="Calibri" pitchFamily="34" charset="0"/>
                <a:ea typeface="Calibri" pitchFamily="34" charset="-122"/>
                <a:cs typeface="Calibri" pitchFamily="34" charset="-120"/>
              </a:rPr>
              <a:t>The only complete closure of Pakistan's mediation window in the entire dataset.</a:t>
            </a:r>
            <a:endParaRPr lang="en-US" sz="1500" dirty="0"/>
          </a:p>
        </p:txBody>
      </p:sp>
      <p:sp>
        <p:nvSpPr>
          <p:cNvPr id="5" name="Shape 3"/>
          <p:cNvSpPr/>
          <p:nvPr/>
        </p:nvSpPr>
        <p:spPr>
          <a:xfrm>
            <a:off x="457200" y="1719072"/>
            <a:ext cx="8229600" cy="1024128"/>
          </a:xfrm>
          <a:prstGeom prst="rect">
            <a:avLst/>
          </a:prstGeom>
          <a:solidFill>
            <a:srgbClr val="1A0808"/>
          </a:solidFill>
          <a:ln w="19050">
            <a:solidFill>
              <a:srgbClr val="C0392B"/>
            </a:solidFill>
            <a:prstDash val="solid"/>
          </a:ln>
        </p:spPr>
        <p:txBody>
          <a:bodyPr/>
          <a:lstStyle/>
          <a:p>
            <a:endParaRPr lang="en-US"/>
          </a:p>
        </p:txBody>
      </p:sp>
      <p:sp>
        <p:nvSpPr>
          <p:cNvPr id="6" name="Text 4"/>
          <p:cNvSpPr/>
          <p:nvPr/>
        </p:nvSpPr>
        <p:spPr>
          <a:xfrm>
            <a:off x="548640" y="1783080"/>
            <a:ext cx="8046720" cy="320040"/>
          </a:xfrm>
          <a:prstGeom prst="rect">
            <a:avLst/>
          </a:prstGeom>
          <a:noFill/>
          <a:ln/>
        </p:spPr>
        <p:txBody>
          <a:bodyPr wrap="square" rtlCol="0" anchor="ctr"/>
          <a:lstStyle/>
          <a:p>
            <a:pPr marL="0" indent="0" algn="ctr">
              <a:buNone/>
            </a:pPr>
            <a:r>
              <a:rPr lang="en-US" sz="1400" b="1" dirty="0">
                <a:solidFill>
                  <a:srgbClr val="C0392B"/>
                </a:solidFill>
                <a:latin typeface="Georgia" pitchFamily="34" charset="0"/>
                <a:ea typeface="Georgia" pitchFamily="34" charset="-122"/>
                <a:cs typeface="Georgia" pitchFamily="34" charset="-120"/>
              </a:rPr>
              <a:t>CONFLICT RISK SCORE: 4 / 4  —  MAXIMUM</a:t>
            </a:r>
            <a:endParaRPr lang="en-US" sz="1400" dirty="0"/>
          </a:p>
        </p:txBody>
      </p:sp>
      <p:sp>
        <p:nvSpPr>
          <p:cNvPr id="7" name="Text 5"/>
          <p:cNvSpPr/>
          <p:nvPr/>
        </p:nvSpPr>
        <p:spPr>
          <a:xfrm>
            <a:off x="548640" y="2121408"/>
            <a:ext cx="8046720" cy="530352"/>
          </a:xfrm>
          <a:prstGeom prst="rect">
            <a:avLst/>
          </a:prstGeom>
          <a:noFill/>
          <a:ln/>
        </p:spPr>
        <p:txBody>
          <a:bodyPr wrap="square" rtlCol="0" anchor="ctr"/>
          <a:lstStyle/>
          <a:p>
            <a:pPr marL="0" indent="0" algn="ctr">
              <a:buNone/>
            </a:pPr>
            <a:r>
              <a:rPr lang="en-US" sz="1100" dirty="0">
                <a:solidFill>
                  <a:srgbClr val="E8EDF2"/>
                </a:solidFill>
                <a:latin typeface="Calibri" pitchFamily="34" charset="0"/>
                <a:ea typeface="Calibri" pitchFamily="34" charset="-122"/>
                <a:cs typeface="Calibri" pitchFamily="34" charset="-120"/>
              </a:rPr>
              <a:t>Iran Tone Momentum crashed to −2.33  ·  USA Momentum fell to −0.40  ·  Mediation Window Score dropped to 0.0  ·  Divergence exceeded 1.0</a:t>
            </a:r>
            <a:endParaRPr lang="en-US" sz="1100" dirty="0"/>
          </a:p>
        </p:txBody>
      </p:sp>
      <p:sp>
        <p:nvSpPr>
          <p:cNvPr id="8" name="Shape 6"/>
          <p:cNvSpPr/>
          <p:nvPr/>
        </p:nvSpPr>
        <p:spPr>
          <a:xfrm>
            <a:off x="457200" y="2907792"/>
            <a:ext cx="3977640" cy="8229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621792" y="2999232"/>
            <a:ext cx="3657600" cy="256032"/>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Iran Tone Collapsed</a:t>
            </a:r>
            <a:endParaRPr lang="en-US" sz="1100" dirty="0"/>
          </a:p>
        </p:txBody>
      </p:sp>
      <p:sp>
        <p:nvSpPr>
          <p:cNvPr id="10" name="Text 8"/>
          <p:cNvSpPr/>
          <p:nvPr/>
        </p:nvSpPr>
        <p:spPr>
          <a:xfrm>
            <a:off x="621792" y="3273552"/>
            <a:ext cx="3657600" cy="402336"/>
          </a:xfrm>
          <a:prstGeom prst="rect">
            <a:avLst/>
          </a:prstGeom>
          <a:noFill/>
          <a:ln/>
        </p:spPr>
        <p:txBody>
          <a:bodyPr wrap="square" rtlCol="0" anchor="ctr"/>
          <a:lstStyle/>
          <a:p>
            <a:pPr marL="0" indent="0">
              <a:buNone/>
            </a:pPr>
            <a:r>
              <a:rPr lang="en-US" sz="1000" dirty="0">
                <a:solidFill>
                  <a:srgbClr val="8FA8C0"/>
                </a:solidFill>
                <a:latin typeface="Calibri" pitchFamily="34" charset="0"/>
                <a:ea typeface="Calibri" pitchFamily="34" charset="-122"/>
                <a:cs typeface="Calibri" pitchFamily="34" charset="-120"/>
              </a:rPr>
              <a:t>First and only negative Iran tone reading (−2.33) in the entire 2016–2026 dataset. Coincided with Gaza peak and Iran–Israel escalation.</a:t>
            </a:r>
            <a:endParaRPr lang="en-US" sz="1000" dirty="0"/>
          </a:p>
        </p:txBody>
      </p:sp>
      <p:sp>
        <p:nvSpPr>
          <p:cNvPr id="11" name="Shape 9"/>
          <p:cNvSpPr/>
          <p:nvPr/>
        </p:nvSpPr>
        <p:spPr>
          <a:xfrm>
            <a:off x="4663440" y="2907792"/>
            <a:ext cx="3977640" cy="8229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4828032" y="2999232"/>
            <a:ext cx="3657600" cy="256032"/>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Mediation Window Closed</a:t>
            </a:r>
            <a:endParaRPr lang="en-US" sz="1100" dirty="0"/>
          </a:p>
        </p:txBody>
      </p:sp>
      <p:sp>
        <p:nvSpPr>
          <p:cNvPr id="13" name="Text 11"/>
          <p:cNvSpPr/>
          <p:nvPr/>
        </p:nvSpPr>
        <p:spPr>
          <a:xfrm>
            <a:off x="4828032" y="3273552"/>
            <a:ext cx="3657600" cy="402336"/>
          </a:xfrm>
          <a:prstGeom prst="rect">
            <a:avLst/>
          </a:prstGeom>
          <a:noFill/>
          <a:ln/>
        </p:spPr>
        <p:txBody>
          <a:bodyPr wrap="square" rtlCol="0" anchor="ctr"/>
          <a:lstStyle/>
          <a:p>
            <a:pPr marL="0" indent="0">
              <a:buNone/>
            </a:pPr>
            <a:r>
              <a:rPr lang="en-US" sz="1000" dirty="0">
                <a:solidFill>
                  <a:srgbClr val="8FA8C0"/>
                </a:solidFill>
                <a:latin typeface="Calibri" pitchFamily="34" charset="0"/>
                <a:ea typeface="Calibri" pitchFamily="34" charset="-122"/>
                <a:cs typeface="Calibri" pitchFamily="34" charset="-120"/>
              </a:rPr>
              <a:t>The only time in 10 years Pakistan's mediation window fully closed — BothPositive condition failed as Iran tone crossed below zero.</a:t>
            </a:r>
            <a:endParaRPr lang="en-US" sz="1000" dirty="0"/>
          </a:p>
        </p:txBody>
      </p:sp>
      <p:sp>
        <p:nvSpPr>
          <p:cNvPr id="14" name="Shape 12"/>
          <p:cNvSpPr/>
          <p:nvPr/>
        </p:nvSpPr>
        <p:spPr>
          <a:xfrm>
            <a:off x="457200" y="3877056"/>
            <a:ext cx="3977640" cy="8229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621792" y="3968496"/>
            <a:ext cx="3657600" cy="256032"/>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Pre-Crisis Score Hit +3</a:t>
            </a:r>
            <a:endParaRPr lang="en-US" sz="1100" dirty="0"/>
          </a:p>
        </p:txBody>
      </p:sp>
      <p:sp>
        <p:nvSpPr>
          <p:cNvPr id="16" name="Text 14"/>
          <p:cNvSpPr/>
          <p:nvPr/>
        </p:nvSpPr>
        <p:spPr>
          <a:xfrm>
            <a:off x="621792" y="4242816"/>
            <a:ext cx="3657600" cy="402336"/>
          </a:xfrm>
          <a:prstGeom prst="rect">
            <a:avLst/>
          </a:prstGeom>
          <a:noFill/>
          <a:ln/>
        </p:spPr>
        <p:txBody>
          <a:bodyPr wrap="square" rtlCol="0" anchor="ctr"/>
          <a:lstStyle/>
          <a:p>
            <a:pPr marL="0" indent="0">
              <a:buNone/>
            </a:pPr>
            <a:r>
              <a:rPr lang="en-US" sz="1000" dirty="0">
                <a:solidFill>
                  <a:srgbClr val="8FA8C0"/>
                </a:solidFill>
                <a:latin typeface="Calibri" pitchFamily="34" charset="0"/>
                <a:ea typeface="Calibri" pitchFamily="34" charset="-122"/>
                <a:cs typeface="Calibri" pitchFamily="34" charset="-120"/>
              </a:rPr>
              <a:t>Both tones fell simultaneously while tension proxy was worsening vs prior year — all three pre-crisis conditions satisfied at once.</a:t>
            </a:r>
            <a:endParaRPr lang="en-US" sz="1000" dirty="0"/>
          </a:p>
        </p:txBody>
      </p:sp>
      <p:sp>
        <p:nvSpPr>
          <p:cNvPr id="17" name="Shape 15"/>
          <p:cNvSpPr/>
          <p:nvPr/>
        </p:nvSpPr>
        <p:spPr>
          <a:xfrm>
            <a:off x="4663440" y="3877056"/>
            <a:ext cx="3977640" cy="8229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4828032" y="3968496"/>
            <a:ext cx="3657600" cy="256032"/>
          </a:xfrm>
          <a:prstGeom prst="rect">
            <a:avLst/>
          </a:prstGeom>
          <a:noFill/>
          <a:ln/>
        </p:spPr>
        <p:txBody>
          <a:bodyPr wrap="square" lIns="0" tIns="0" rIns="0" bIns="0" rtlCol="0" anchor="ctr"/>
          <a:lstStyle/>
          <a:p>
            <a:pPr marL="0" indent="0">
              <a:buNone/>
            </a:pPr>
            <a:r>
              <a:rPr lang="en-US" sz="1100" b="1" dirty="0">
                <a:solidFill>
                  <a:srgbClr val="D4A017"/>
                </a:solidFill>
                <a:latin typeface="Calibri" pitchFamily="34" charset="0"/>
                <a:ea typeface="Calibri" pitchFamily="34" charset="-122"/>
                <a:cs typeface="Calibri" pitchFamily="34" charset="-120"/>
              </a:rPr>
              <a:t>25-Month Warning Window</a:t>
            </a:r>
            <a:endParaRPr lang="en-US" sz="1100" dirty="0"/>
          </a:p>
        </p:txBody>
      </p:sp>
      <p:sp>
        <p:nvSpPr>
          <p:cNvPr id="19" name="Text 17"/>
          <p:cNvSpPr/>
          <p:nvPr/>
        </p:nvSpPr>
        <p:spPr>
          <a:xfrm>
            <a:off x="4828032" y="4242816"/>
            <a:ext cx="3657600" cy="402336"/>
          </a:xfrm>
          <a:prstGeom prst="rect">
            <a:avLst/>
          </a:prstGeom>
          <a:noFill/>
          <a:ln/>
        </p:spPr>
        <p:txBody>
          <a:bodyPr wrap="square" rtlCol="0" anchor="ctr"/>
          <a:lstStyle/>
          <a:p>
            <a:pPr marL="0" indent="0">
              <a:buNone/>
            </a:pPr>
            <a:r>
              <a:rPr lang="en-US" sz="1000" dirty="0">
                <a:solidFill>
                  <a:srgbClr val="8FA8C0"/>
                </a:solidFill>
                <a:latin typeface="Calibri" pitchFamily="34" charset="0"/>
                <a:ea typeface="Calibri" pitchFamily="34" charset="-122"/>
                <a:cs typeface="Calibri" pitchFamily="34" charset="-120"/>
              </a:rPr>
              <a:t>The composite risk index peaked in early 2024. Operation Epic Fury launched February 2026 — providing a 25-month advance signal.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DASHBOARD: 2025–2026 MONTHLY DRILL DOWN</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lgn="l">
              <a:buNone/>
            </a:pPr>
            <a:r>
              <a:rPr lang="en-US" sz="3400" b="1" dirty="0">
                <a:solidFill>
                  <a:srgbClr val="0A1628"/>
                </a:solidFill>
                <a:latin typeface="Georgia" pitchFamily="34" charset="0"/>
                <a:ea typeface="Georgia" pitchFamily="34" charset="-122"/>
                <a:cs typeface="Georgia" pitchFamily="34" charset="-120"/>
              </a:rPr>
              <a:t>Did We See It Coming — Month by Month?</a:t>
            </a:r>
            <a:endParaRPr lang="en-US" sz="3400" dirty="0"/>
          </a:p>
        </p:txBody>
      </p:sp>
      <p:sp>
        <p:nvSpPr>
          <p:cNvPr id="4" name="Text 2"/>
          <p:cNvSpPr/>
          <p:nvPr/>
        </p:nvSpPr>
        <p:spPr>
          <a:xfrm>
            <a:off x="457200" y="1143000"/>
            <a:ext cx="8229600" cy="347472"/>
          </a:xfrm>
          <a:prstGeom prst="rect">
            <a:avLst/>
          </a:prstGeom>
          <a:noFill/>
          <a:ln/>
        </p:spPr>
        <p:txBody>
          <a:bodyPr wrap="square" rtlCol="0" anchor="ctr"/>
          <a:lstStyle/>
          <a:p>
            <a:pPr marL="0" indent="0" algn="l">
              <a:buNone/>
            </a:pPr>
            <a:r>
              <a:rPr lang="en-US" sz="1400" i="1" dirty="0">
                <a:solidFill>
                  <a:srgbClr val="1E5F8C"/>
                </a:solidFill>
                <a:latin typeface="Calibri" pitchFamily="34" charset="0"/>
                <a:ea typeface="Calibri" pitchFamily="34" charset="-122"/>
                <a:cs typeface="Calibri" pitchFamily="34" charset="-120"/>
              </a:rPr>
              <a:t>The annual model catches slow-building crises. Sudden escalations require monthly monitoring.</a:t>
            </a:r>
            <a:endParaRPr lang="en-US" sz="1400" dirty="0"/>
          </a:p>
        </p:txBody>
      </p:sp>
      <p:sp>
        <p:nvSpPr>
          <p:cNvPr id="5" name="Text 3"/>
          <p:cNvSpPr/>
          <p:nvPr/>
        </p:nvSpPr>
        <p:spPr>
          <a:xfrm>
            <a:off x="457200" y="1572768"/>
            <a:ext cx="8229600" cy="256032"/>
          </a:xfrm>
          <a:prstGeom prst="rect">
            <a:avLst/>
          </a:prstGeom>
          <a:noFill/>
          <a:ln/>
        </p:spPr>
        <p:txBody>
          <a:bodyPr wrap="square" rtlCol="0" anchor="ctr"/>
          <a:lstStyle/>
          <a:p>
            <a:pPr marL="0" indent="0">
              <a:buNone/>
            </a:pPr>
            <a:r>
              <a:rPr lang="en-US" sz="900" b="1" kern="0" spc="300" dirty="0">
                <a:solidFill>
                  <a:srgbClr val="1E5F8C"/>
                </a:solidFill>
                <a:latin typeface="Calibri" pitchFamily="34" charset="0"/>
                <a:ea typeface="Calibri" pitchFamily="34" charset="-122"/>
                <a:cs typeface="Calibri" pitchFamily="34" charset="-120"/>
              </a:rPr>
              <a:t>TWO LAYERS OF DETECTION</a:t>
            </a:r>
            <a:endParaRPr lang="en-US" sz="900" dirty="0"/>
          </a:p>
        </p:txBody>
      </p:sp>
      <p:sp>
        <p:nvSpPr>
          <p:cNvPr id="6" name="Shape 4"/>
          <p:cNvSpPr/>
          <p:nvPr/>
        </p:nvSpPr>
        <p:spPr>
          <a:xfrm>
            <a:off x="457200" y="1901952"/>
            <a:ext cx="8229600" cy="123444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457200" y="1901952"/>
            <a:ext cx="64008" cy="1234440"/>
          </a:xfrm>
          <a:prstGeom prst="rect">
            <a:avLst/>
          </a:prstGeom>
          <a:solidFill>
            <a:srgbClr val="D4A017"/>
          </a:solidFill>
          <a:ln w="12700">
            <a:solidFill>
              <a:srgbClr val="D4A017"/>
            </a:solidFill>
            <a:prstDash val="solid"/>
          </a:ln>
        </p:spPr>
        <p:txBody>
          <a:bodyPr/>
          <a:lstStyle/>
          <a:p>
            <a:endParaRPr lang="en-US"/>
          </a:p>
        </p:txBody>
      </p:sp>
      <p:sp>
        <p:nvSpPr>
          <p:cNvPr id="8" name="Text 6"/>
          <p:cNvSpPr/>
          <p:nvPr/>
        </p:nvSpPr>
        <p:spPr>
          <a:xfrm>
            <a:off x="658368" y="1993392"/>
            <a:ext cx="1280160" cy="256032"/>
          </a:xfrm>
          <a:prstGeom prst="rect">
            <a:avLst/>
          </a:prstGeom>
          <a:noFill/>
          <a:ln/>
        </p:spPr>
        <p:txBody>
          <a:bodyPr wrap="square" lIns="0" tIns="0" rIns="0" bIns="0" rtlCol="0" anchor="ctr"/>
          <a:lstStyle/>
          <a:p>
            <a:pPr marL="0" indent="0">
              <a:buNone/>
            </a:pPr>
            <a:r>
              <a:rPr lang="en-US" sz="1300" b="1" dirty="0">
                <a:solidFill>
                  <a:srgbClr val="0A1628"/>
                </a:solidFill>
                <a:latin typeface="Georgia" pitchFamily="34" charset="0"/>
                <a:ea typeface="Georgia" pitchFamily="34" charset="-122"/>
                <a:cs typeface="Georgia" pitchFamily="34" charset="-120"/>
              </a:rPr>
              <a:t>Jun 2025</a:t>
            </a:r>
            <a:endParaRPr lang="en-US" sz="1300" dirty="0"/>
          </a:p>
        </p:txBody>
      </p:sp>
      <p:sp>
        <p:nvSpPr>
          <p:cNvPr id="9" name="Text 7"/>
          <p:cNvSpPr/>
          <p:nvPr/>
        </p:nvSpPr>
        <p:spPr>
          <a:xfrm>
            <a:off x="658368" y="2267712"/>
            <a:ext cx="2286000" cy="228600"/>
          </a:xfrm>
          <a:prstGeom prst="rect">
            <a:avLst/>
          </a:prstGeom>
          <a:noFill/>
          <a:ln/>
        </p:spPr>
        <p:txBody>
          <a:bodyPr wrap="square" lIns="0" tIns="0" rIns="0" bIns="0" rtlCol="0" anchor="ctr"/>
          <a:lstStyle/>
          <a:p>
            <a:pPr marL="0" indent="0">
              <a:buNone/>
            </a:pPr>
            <a:r>
              <a:rPr lang="en-US" sz="1100" dirty="0">
                <a:solidFill>
                  <a:srgbClr val="1E5F8C"/>
                </a:solidFill>
                <a:latin typeface="Calibri" pitchFamily="34" charset="0"/>
                <a:ea typeface="Calibri" pitchFamily="34" charset="-122"/>
                <a:cs typeface="Calibri" pitchFamily="34" charset="-120"/>
              </a:rPr>
              <a:t>Twelve-Day War</a:t>
            </a:r>
            <a:endParaRPr lang="en-US" sz="1100" dirty="0"/>
          </a:p>
        </p:txBody>
      </p:sp>
      <p:sp>
        <p:nvSpPr>
          <p:cNvPr id="10" name="Text 8"/>
          <p:cNvSpPr/>
          <p:nvPr/>
        </p:nvSpPr>
        <p:spPr>
          <a:xfrm>
            <a:off x="658368" y="2523744"/>
            <a:ext cx="2286000" cy="228600"/>
          </a:xfrm>
          <a:prstGeom prst="rect">
            <a:avLst/>
          </a:prstGeom>
          <a:noFill/>
          <a:ln/>
        </p:spPr>
        <p:txBody>
          <a:bodyPr wrap="square" lIns="0" tIns="0" rIns="0" bIns="0" rtlCol="0" anchor="ctr"/>
          <a:lstStyle/>
          <a:p>
            <a:pPr marL="0" indent="0">
              <a:buNone/>
            </a:pPr>
            <a:r>
              <a:rPr lang="en-US" sz="1000" dirty="0">
                <a:solidFill>
                  <a:srgbClr val="8FA8C0"/>
                </a:solidFill>
                <a:latin typeface="Calibri" pitchFamily="34" charset="0"/>
                <a:ea typeface="Calibri" pitchFamily="34" charset="-122"/>
                <a:cs typeface="Calibri" pitchFamily="34" charset="-120"/>
              </a:rPr>
              <a:t>Lead Time: Same month</a:t>
            </a:r>
            <a:endParaRPr lang="en-US" sz="1000" dirty="0"/>
          </a:p>
        </p:txBody>
      </p:sp>
      <p:sp>
        <p:nvSpPr>
          <p:cNvPr id="11" name="Text 9"/>
          <p:cNvSpPr/>
          <p:nvPr/>
        </p:nvSpPr>
        <p:spPr>
          <a:xfrm>
            <a:off x="658368" y="2770632"/>
            <a:ext cx="2286000" cy="256032"/>
          </a:xfrm>
          <a:prstGeom prst="rect">
            <a:avLst/>
          </a:prstGeom>
          <a:noFill/>
          <a:ln/>
        </p:spPr>
        <p:txBody>
          <a:bodyPr wrap="square" lIns="0" tIns="0" rIns="0" bIns="0" rtlCol="0" anchor="ctr"/>
          <a:lstStyle/>
          <a:p>
            <a:pPr marL="0" indent="0">
              <a:buNone/>
            </a:pPr>
            <a:r>
              <a:rPr lang="en-US" sz="1200" b="1" dirty="0">
                <a:solidFill>
                  <a:srgbClr val="D4A017"/>
                </a:solidFill>
                <a:latin typeface="Georgia" pitchFamily="34" charset="0"/>
                <a:ea typeface="Georgia" pitchFamily="34" charset="-122"/>
                <a:cs typeface="Georgia" pitchFamily="34" charset="-120"/>
              </a:rPr>
              <a:t>Score: 2/4</a:t>
            </a:r>
            <a:endParaRPr lang="en-US" sz="1200" dirty="0"/>
          </a:p>
        </p:txBody>
      </p:sp>
      <p:sp>
        <p:nvSpPr>
          <p:cNvPr id="12" name="Shape 10"/>
          <p:cNvSpPr/>
          <p:nvPr/>
        </p:nvSpPr>
        <p:spPr>
          <a:xfrm>
            <a:off x="3017520" y="2039112"/>
            <a:ext cx="5486400" cy="960120"/>
          </a:xfrm>
          <a:prstGeom prst="rect">
            <a:avLst/>
          </a:prstGeom>
          <a:solidFill>
            <a:srgbClr val="F0F4F8"/>
          </a:solidFill>
          <a:ln w="12700">
            <a:solidFill>
              <a:srgbClr val="E0E8F0"/>
            </a:solidFill>
            <a:prstDash val="solid"/>
          </a:ln>
        </p:spPr>
        <p:txBody>
          <a:bodyPr/>
          <a:lstStyle/>
          <a:p>
            <a:endParaRPr lang="en-US"/>
          </a:p>
        </p:txBody>
      </p:sp>
      <p:sp>
        <p:nvSpPr>
          <p:cNvPr id="13" name="Shape 11"/>
          <p:cNvSpPr/>
          <p:nvPr/>
        </p:nvSpPr>
        <p:spPr>
          <a:xfrm>
            <a:off x="3063240" y="2039112"/>
            <a:ext cx="64008" cy="960120"/>
          </a:xfrm>
          <a:prstGeom prst="rect">
            <a:avLst/>
          </a:prstGeom>
          <a:solidFill>
            <a:srgbClr val="D4A017"/>
          </a:solidFill>
          <a:ln w="12700">
            <a:solidFill>
              <a:srgbClr val="D4A017"/>
            </a:solidFill>
            <a:prstDash val="solid"/>
          </a:ln>
        </p:spPr>
        <p:txBody>
          <a:bodyPr/>
          <a:lstStyle/>
          <a:p>
            <a:endParaRPr lang="en-US"/>
          </a:p>
        </p:txBody>
      </p:sp>
      <p:sp>
        <p:nvSpPr>
          <p:cNvPr id="14" name="Text 12"/>
          <p:cNvSpPr/>
          <p:nvPr/>
        </p:nvSpPr>
        <p:spPr>
          <a:xfrm>
            <a:off x="3246120" y="2066544"/>
            <a:ext cx="2743200" cy="256032"/>
          </a:xfrm>
          <a:prstGeom prst="rect">
            <a:avLst/>
          </a:prstGeom>
          <a:noFill/>
          <a:ln/>
        </p:spPr>
        <p:txBody>
          <a:bodyPr wrap="square" lIns="0" tIns="0" rIns="0" bIns="0" rtlCol="0" anchor="ctr"/>
          <a:lstStyle/>
          <a:p>
            <a:pPr marL="0" indent="0">
              <a:buNone/>
            </a:pPr>
            <a:r>
              <a:rPr lang="en-US" sz="1000" b="1" dirty="0">
                <a:solidFill>
                  <a:srgbClr val="D4A017"/>
                </a:solidFill>
                <a:latin typeface="Calibri" pitchFamily="34" charset="0"/>
                <a:ea typeface="Calibri" pitchFamily="34" charset="-122"/>
                <a:cs typeface="Calibri" pitchFamily="34" charset="-120"/>
              </a:rPr>
              <a:t>Concurrent</a:t>
            </a:r>
            <a:endParaRPr lang="en-US" sz="1000" dirty="0"/>
          </a:p>
        </p:txBody>
      </p:sp>
      <p:sp>
        <p:nvSpPr>
          <p:cNvPr id="15" name="Text 13"/>
          <p:cNvSpPr/>
          <p:nvPr/>
        </p:nvSpPr>
        <p:spPr>
          <a:xfrm>
            <a:off x="3246120" y="2340864"/>
            <a:ext cx="5166360" cy="621792"/>
          </a:xfrm>
          <a:prstGeom prst="rect">
            <a:avLst/>
          </a:prstGeom>
          <a:noFill/>
          <a:ln/>
        </p:spPr>
        <p:txBody>
          <a:bodyPr wrap="square" rtlCol="0" anchor="ctr"/>
          <a:lstStyle/>
          <a:p>
            <a:pPr marL="0" indent="0">
              <a:buNone/>
            </a:pPr>
            <a:r>
              <a:rPr lang="en-US" sz="1100" dirty="0">
                <a:solidFill>
                  <a:srgbClr val="0A1628"/>
                </a:solidFill>
                <a:latin typeface="Calibri" pitchFamily="34" charset="0"/>
                <a:ea typeface="Calibri" pitchFamily="34" charset="-122"/>
                <a:cs typeface="Calibri" pitchFamily="34" charset="-120"/>
              </a:rPr>
              <a:t>Both Iran &amp; USA momentum simultaneously negative. Score reached 2. May 2025 showed USA momentum already negative — a one-month advance signal.</a:t>
            </a:r>
            <a:endParaRPr lang="en-US" sz="1100" dirty="0"/>
          </a:p>
        </p:txBody>
      </p:sp>
      <p:sp>
        <p:nvSpPr>
          <p:cNvPr id="16" name="Shape 14"/>
          <p:cNvSpPr/>
          <p:nvPr/>
        </p:nvSpPr>
        <p:spPr>
          <a:xfrm>
            <a:off x="457200" y="3291840"/>
            <a:ext cx="8229600" cy="1234440"/>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57200" y="3291840"/>
            <a:ext cx="64008" cy="1234440"/>
          </a:xfrm>
          <a:prstGeom prst="rect">
            <a:avLst/>
          </a:prstGeom>
          <a:solidFill>
            <a:srgbClr val="1A7A4A"/>
          </a:solidFill>
          <a:ln w="12700">
            <a:solidFill>
              <a:srgbClr val="1A7A4A"/>
            </a:solidFill>
            <a:prstDash val="solid"/>
          </a:ln>
        </p:spPr>
        <p:txBody>
          <a:bodyPr/>
          <a:lstStyle/>
          <a:p>
            <a:endParaRPr lang="en-US"/>
          </a:p>
        </p:txBody>
      </p:sp>
      <p:sp>
        <p:nvSpPr>
          <p:cNvPr id="18" name="Text 16"/>
          <p:cNvSpPr/>
          <p:nvPr/>
        </p:nvSpPr>
        <p:spPr>
          <a:xfrm>
            <a:off x="658368" y="3383280"/>
            <a:ext cx="1280160" cy="256032"/>
          </a:xfrm>
          <a:prstGeom prst="rect">
            <a:avLst/>
          </a:prstGeom>
          <a:noFill/>
          <a:ln/>
        </p:spPr>
        <p:txBody>
          <a:bodyPr wrap="square" lIns="0" tIns="0" rIns="0" bIns="0" rtlCol="0" anchor="ctr"/>
          <a:lstStyle/>
          <a:p>
            <a:pPr marL="0" indent="0">
              <a:buNone/>
            </a:pPr>
            <a:r>
              <a:rPr lang="en-US" sz="1300" b="1" dirty="0">
                <a:solidFill>
                  <a:srgbClr val="0A1628"/>
                </a:solidFill>
                <a:latin typeface="Georgia" pitchFamily="34" charset="0"/>
                <a:ea typeface="Georgia" pitchFamily="34" charset="-122"/>
                <a:cs typeface="Georgia" pitchFamily="34" charset="-120"/>
              </a:rPr>
              <a:t>Feb 2026</a:t>
            </a:r>
            <a:endParaRPr lang="en-US" sz="1300" dirty="0"/>
          </a:p>
        </p:txBody>
      </p:sp>
      <p:sp>
        <p:nvSpPr>
          <p:cNvPr id="19" name="Text 17"/>
          <p:cNvSpPr/>
          <p:nvPr/>
        </p:nvSpPr>
        <p:spPr>
          <a:xfrm>
            <a:off x="658368" y="3657600"/>
            <a:ext cx="2286000" cy="228600"/>
          </a:xfrm>
          <a:prstGeom prst="rect">
            <a:avLst/>
          </a:prstGeom>
          <a:noFill/>
          <a:ln/>
        </p:spPr>
        <p:txBody>
          <a:bodyPr wrap="square" lIns="0" tIns="0" rIns="0" bIns="0" rtlCol="0" anchor="ctr"/>
          <a:lstStyle/>
          <a:p>
            <a:pPr marL="0" indent="0">
              <a:buNone/>
            </a:pPr>
            <a:r>
              <a:rPr lang="en-US" sz="1100" dirty="0">
                <a:solidFill>
                  <a:srgbClr val="1E5F8C"/>
                </a:solidFill>
                <a:latin typeface="Calibri" pitchFamily="34" charset="0"/>
                <a:ea typeface="Calibri" pitchFamily="34" charset="-122"/>
                <a:cs typeface="Calibri" pitchFamily="34" charset="-120"/>
              </a:rPr>
              <a:t>Operation Epic Fury</a:t>
            </a:r>
            <a:endParaRPr lang="en-US" sz="1100" dirty="0"/>
          </a:p>
        </p:txBody>
      </p:sp>
      <p:sp>
        <p:nvSpPr>
          <p:cNvPr id="20" name="Text 18"/>
          <p:cNvSpPr/>
          <p:nvPr/>
        </p:nvSpPr>
        <p:spPr>
          <a:xfrm>
            <a:off x="658368" y="3913632"/>
            <a:ext cx="2286000" cy="228600"/>
          </a:xfrm>
          <a:prstGeom prst="rect">
            <a:avLst/>
          </a:prstGeom>
          <a:noFill/>
          <a:ln/>
        </p:spPr>
        <p:txBody>
          <a:bodyPr wrap="square" lIns="0" tIns="0" rIns="0" bIns="0" rtlCol="0" anchor="ctr"/>
          <a:lstStyle/>
          <a:p>
            <a:pPr marL="0" indent="0">
              <a:buNone/>
            </a:pPr>
            <a:r>
              <a:rPr lang="en-US" sz="1000" dirty="0">
                <a:solidFill>
                  <a:srgbClr val="8FA8C0"/>
                </a:solidFill>
                <a:latin typeface="Calibri" pitchFamily="34" charset="0"/>
                <a:ea typeface="Calibri" pitchFamily="34" charset="-122"/>
                <a:cs typeface="Calibri" pitchFamily="34" charset="-120"/>
              </a:rPr>
              <a:t>Lead Time: 4 weeks prior</a:t>
            </a:r>
            <a:endParaRPr lang="en-US" sz="1000" dirty="0"/>
          </a:p>
        </p:txBody>
      </p:sp>
      <p:sp>
        <p:nvSpPr>
          <p:cNvPr id="21" name="Text 19"/>
          <p:cNvSpPr/>
          <p:nvPr/>
        </p:nvSpPr>
        <p:spPr>
          <a:xfrm>
            <a:off x="658368" y="4160520"/>
            <a:ext cx="2286000" cy="256032"/>
          </a:xfrm>
          <a:prstGeom prst="rect">
            <a:avLst/>
          </a:prstGeom>
          <a:noFill/>
          <a:ln/>
        </p:spPr>
        <p:txBody>
          <a:bodyPr wrap="square" lIns="0" tIns="0" rIns="0" bIns="0" rtlCol="0" anchor="ctr"/>
          <a:lstStyle/>
          <a:p>
            <a:pPr marL="0" indent="0">
              <a:buNone/>
            </a:pPr>
            <a:r>
              <a:rPr lang="en-US" sz="1200" b="1" dirty="0">
                <a:solidFill>
                  <a:srgbClr val="1A7A4A"/>
                </a:solidFill>
                <a:latin typeface="Georgia" pitchFamily="34" charset="0"/>
                <a:ea typeface="Georgia" pitchFamily="34" charset="-122"/>
                <a:cs typeface="Georgia" pitchFamily="34" charset="-120"/>
              </a:rPr>
              <a:t>Score: 1/4</a:t>
            </a:r>
            <a:endParaRPr lang="en-US" sz="1200" dirty="0"/>
          </a:p>
        </p:txBody>
      </p:sp>
      <p:sp>
        <p:nvSpPr>
          <p:cNvPr id="22" name="Shape 20"/>
          <p:cNvSpPr/>
          <p:nvPr/>
        </p:nvSpPr>
        <p:spPr>
          <a:xfrm>
            <a:off x="3017520" y="3429000"/>
            <a:ext cx="5486400" cy="960120"/>
          </a:xfrm>
          <a:prstGeom prst="rect">
            <a:avLst/>
          </a:prstGeom>
          <a:solidFill>
            <a:srgbClr val="F0F4F8"/>
          </a:solidFill>
          <a:ln w="12700">
            <a:solidFill>
              <a:srgbClr val="E0E8F0"/>
            </a:solidFill>
            <a:prstDash val="solid"/>
          </a:ln>
        </p:spPr>
        <p:txBody>
          <a:bodyPr/>
          <a:lstStyle/>
          <a:p>
            <a:endParaRPr lang="en-US"/>
          </a:p>
        </p:txBody>
      </p:sp>
      <p:sp>
        <p:nvSpPr>
          <p:cNvPr id="23" name="Shape 21"/>
          <p:cNvSpPr/>
          <p:nvPr/>
        </p:nvSpPr>
        <p:spPr>
          <a:xfrm>
            <a:off x="3063240" y="3429000"/>
            <a:ext cx="64008" cy="960120"/>
          </a:xfrm>
          <a:prstGeom prst="rect">
            <a:avLst/>
          </a:prstGeom>
          <a:solidFill>
            <a:srgbClr val="1A7A4A"/>
          </a:solidFill>
          <a:ln w="12700">
            <a:solidFill>
              <a:srgbClr val="1A7A4A"/>
            </a:solidFill>
            <a:prstDash val="solid"/>
          </a:ln>
        </p:spPr>
        <p:txBody>
          <a:bodyPr/>
          <a:lstStyle/>
          <a:p>
            <a:endParaRPr lang="en-US"/>
          </a:p>
        </p:txBody>
      </p:sp>
      <p:sp>
        <p:nvSpPr>
          <p:cNvPr id="24" name="Text 22"/>
          <p:cNvSpPr/>
          <p:nvPr/>
        </p:nvSpPr>
        <p:spPr>
          <a:xfrm>
            <a:off x="3246120" y="3456432"/>
            <a:ext cx="2743200" cy="256032"/>
          </a:xfrm>
          <a:prstGeom prst="rect">
            <a:avLst/>
          </a:prstGeom>
          <a:noFill/>
          <a:ln/>
        </p:spPr>
        <p:txBody>
          <a:bodyPr wrap="square" lIns="0" tIns="0" rIns="0" bIns="0"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Prospective ✓</a:t>
            </a:r>
            <a:endParaRPr lang="en-US" sz="1000" dirty="0"/>
          </a:p>
        </p:txBody>
      </p:sp>
      <p:sp>
        <p:nvSpPr>
          <p:cNvPr id="25" name="Text 23"/>
          <p:cNvSpPr/>
          <p:nvPr/>
        </p:nvSpPr>
        <p:spPr>
          <a:xfrm>
            <a:off x="3246120" y="3730752"/>
            <a:ext cx="5166360" cy="621792"/>
          </a:xfrm>
          <a:prstGeom prst="rect">
            <a:avLst/>
          </a:prstGeom>
          <a:noFill/>
          <a:ln/>
        </p:spPr>
        <p:txBody>
          <a:bodyPr wrap="square" rtlCol="0" anchor="ctr"/>
          <a:lstStyle/>
          <a:p>
            <a:pPr marL="0" indent="0">
              <a:buNone/>
            </a:pPr>
            <a:r>
              <a:rPr lang="en-US" sz="1100" dirty="0">
                <a:solidFill>
                  <a:srgbClr val="0A1628"/>
                </a:solidFill>
                <a:latin typeface="Calibri" pitchFamily="34" charset="0"/>
                <a:ea typeface="Calibri" pitchFamily="34" charset="-122"/>
                <a:cs typeface="Calibri" pitchFamily="34" charset="-120"/>
              </a:rPr>
              <a:t>January 2026 showed Iran momentum at −0.73. Score registered 1 — a four-week leading signal before strikes launched February 28.</a:t>
            </a:r>
            <a:endParaRPr lang="en-US" sz="1100" dirty="0"/>
          </a:p>
        </p:txBody>
      </p:sp>
      <p:sp>
        <p:nvSpPr>
          <p:cNvPr id="26" name="Text 24"/>
          <p:cNvSpPr/>
          <p:nvPr/>
        </p:nvSpPr>
        <p:spPr>
          <a:xfrm>
            <a:off x="457200" y="4754880"/>
            <a:ext cx="8229600" cy="256032"/>
          </a:xfrm>
          <a:prstGeom prst="rect">
            <a:avLst/>
          </a:prstGeom>
          <a:noFill/>
          <a:ln/>
        </p:spPr>
        <p:txBody>
          <a:bodyPr wrap="square" rtlCol="0" anchor="ctr"/>
          <a:lstStyle/>
          <a:p>
            <a:pPr marL="0" indent="0">
              <a:buNone/>
            </a:pPr>
            <a:r>
              <a:rPr lang="en-US" sz="1050" i="1" dirty="0">
                <a:solidFill>
                  <a:srgbClr val="1E5F8C"/>
                </a:solidFill>
                <a:latin typeface="Calibri" pitchFamily="34" charset="0"/>
                <a:ea typeface="Calibri" pitchFamily="34" charset="-122"/>
                <a:cs typeface="Calibri" pitchFamily="34" charset="-120"/>
              </a:rPr>
              <a:t>Together, the annual and monthly layers provide complementary coverage — no crisis event went undetected across the full 2016–2026 study period.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CRITICAL FINDING</a:t>
            </a:r>
            <a:endParaRPr lang="en-US" sz="900" dirty="0"/>
          </a:p>
        </p:txBody>
      </p:sp>
      <p:sp>
        <p:nvSpPr>
          <p:cNvPr id="3" name="Text 1"/>
          <p:cNvSpPr/>
          <p:nvPr/>
        </p:nvSpPr>
        <p:spPr>
          <a:xfrm>
            <a:off x="457200" y="502920"/>
            <a:ext cx="8229600" cy="731520"/>
          </a:xfrm>
          <a:prstGeom prst="rect">
            <a:avLst/>
          </a:prstGeom>
          <a:noFill/>
          <a:ln/>
        </p:spPr>
        <p:txBody>
          <a:bodyPr wrap="square"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The Hedging Pattern — When the</a:t>
            </a:r>
            <a:endParaRPr lang="en-US" sz="3600" dirty="0"/>
          </a:p>
          <a:p>
            <a:pPr marL="0" indent="0" algn="l">
              <a:buNone/>
            </a:pPr>
            <a:r>
              <a:rPr lang="en-US" sz="3600" b="1" dirty="0">
                <a:solidFill>
                  <a:srgbClr val="FFFFFF"/>
                </a:solidFill>
                <a:latin typeface="Georgia" pitchFamily="34" charset="0"/>
                <a:ea typeface="Georgia" pitchFamily="34" charset="-122"/>
                <a:cs typeface="Georgia" pitchFamily="34" charset="-120"/>
              </a:rPr>
              <a:t>Model's Blind Spot Became a Signal</a:t>
            </a:r>
            <a:endParaRPr lang="en-US" sz="3600" dirty="0"/>
          </a:p>
        </p:txBody>
      </p:sp>
      <p:sp>
        <p:nvSpPr>
          <p:cNvPr id="4" name="Text 2"/>
          <p:cNvSpPr/>
          <p:nvPr/>
        </p:nvSpPr>
        <p:spPr>
          <a:xfrm>
            <a:off x="566928" y="3342249"/>
            <a:ext cx="1934308" cy="1083212"/>
          </a:xfrm>
          <a:prstGeom prst="rect">
            <a:avLst/>
          </a:prstGeom>
          <a:noFill/>
          <a:ln/>
        </p:spPr>
        <p:txBody>
          <a:bodyPr wrap="square" rtlCol="0" anchor="ctr"/>
          <a:lstStyle/>
          <a:p>
            <a:pPr marL="0" indent="0" algn="l">
              <a:buNone/>
            </a:pPr>
            <a:r>
              <a:rPr lang="en-US" sz="1500" i="1" dirty="0">
                <a:solidFill>
                  <a:srgbClr val="8FA8C0"/>
                </a:solidFill>
                <a:latin typeface="Calibri" pitchFamily="34" charset="0"/>
                <a:ea typeface="Calibri" pitchFamily="34" charset="-122"/>
                <a:cs typeface="Calibri" pitchFamily="34" charset="-120"/>
              </a:rPr>
              <a:t>January 2026: Pakistan was leaning toward the USA as it pulled away from Iran. That's not stability — it's pre-conflict positioning.</a:t>
            </a:r>
            <a:endParaRPr lang="en-US" sz="1500" dirty="0"/>
          </a:p>
        </p:txBody>
      </p:sp>
      <p:sp>
        <p:nvSpPr>
          <p:cNvPr id="5" name="Shape 3"/>
          <p:cNvSpPr/>
          <p:nvPr/>
        </p:nvSpPr>
        <p:spPr>
          <a:xfrm>
            <a:off x="457200" y="1874520"/>
            <a:ext cx="8229600" cy="731520"/>
          </a:xfrm>
          <a:prstGeom prst="rect">
            <a:avLst/>
          </a:prstGeom>
          <a:solidFill>
            <a:srgbClr val="0F1F35"/>
          </a:solidFill>
          <a:ln w="12700">
            <a:solidFill>
              <a:srgbClr val="D4A017"/>
            </a:solidFill>
            <a:prstDash val="solid"/>
          </a:ln>
        </p:spPr>
        <p:txBody>
          <a:bodyPr/>
          <a:lstStyle/>
          <a:p>
            <a:endParaRPr lang="en-US"/>
          </a:p>
        </p:txBody>
      </p:sp>
      <p:sp>
        <p:nvSpPr>
          <p:cNvPr id="6" name="Text 4"/>
          <p:cNvSpPr/>
          <p:nvPr/>
        </p:nvSpPr>
        <p:spPr>
          <a:xfrm>
            <a:off x="566928" y="1938528"/>
            <a:ext cx="7955280" cy="566928"/>
          </a:xfrm>
          <a:prstGeom prst="rect">
            <a:avLst/>
          </a:prstGeom>
          <a:noFill/>
          <a:ln/>
        </p:spPr>
        <p:txBody>
          <a:bodyPr wrap="square" rtlCol="0" anchor="ctr"/>
          <a:lstStyle/>
          <a:p>
            <a:pPr marL="0" indent="0">
              <a:buNone/>
            </a:pPr>
            <a:r>
              <a:rPr lang="en-US" sz="1150" dirty="0">
                <a:solidFill>
                  <a:srgbClr val="E8EDF2"/>
                </a:solidFill>
                <a:latin typeface="Calibri" pitchFamily="34" charset="0"/>
                <a:ea typeface="Calibri" pitchFamily="34" charset="-122"/>
                <a:cs typeface="Calibri" pitchFamily="34" charset="-120"/>
              </a:rPr>
              <a:t>Jan 2026  ·  Iran Momentum = −0.73 (falling)  ·  USA Momentum = +1.17 (rising)  →  Score suppressed to 1, not 2  ·  Strikes launched 4 weeks later</a:t>
            </a:r>
            <a:endParaRPr lang="en-US" sz="1150" dirty="0"/>
          </a:p>
        </p:txBody>
      </p:sp>
      <p:sp>
        <p:nvSpPr>
          <p:cNvPr id="11" name="Shape 9"/>
          <p:cNvSpPr/>
          <p:nvPr/>
        </p:nvSpPr>
        <p:spPr>
          <a:xfrm>
            <a:off x="3300984" y="2743200"/>
            <a:ext cx="2633472" cy="2176272"/>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3429000" y="2843784"/>
            <a:ext cx="2377440" cy="2020824"/>
          </a:xfrm>
          <a:prstGeom prst="rect">
            <a:avLst/>
          </a:prstGeom>
          <a:noFill/>
          <a:ln/>
        </p:spPr>
        <p:txBody>
          <a:bodyPr wrap="square" rtlCol="0" anchor="ctr"/>
          <a:lstStyle/>
          <a:p>
            <a:pPr marL="0" indent="0">
              <a:buNone/>
            </a:pPr>
            <a:r>
              <a:rPr lang="en-US" sz="1050" dirty="0">
                <a:solidFill>
                  <a:srgbClr val="8FA8C0"/>
                </a:solidFill>
                <a:latin typeface="Calibri" pitchFamily="34" charset="0"/>
                <a:ea typeface="Calibri" pitchFamily="34" charset="-122"/>
                <a:cs typeface="Calibri" pitchFamily="34" charset="-120"/>
              </a:rPr>
              <a:t>Pakistan was strategically hedging — improving its USA relationship while distancing from Iran, in anticipation of the coming conflict. This is a more informative signal than simple bilateral deterioration.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MODEL VALIDATION</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lgn="l">
              <a:buNone/>
            </a:pPr>
            <a:r>
              <a:rPr lang="en-US" sz="3400" b="1" dirty="0">
                <a:solidFill>
                  <a:srgbClr val="0A1628"/>
                </a:solidFill>
                <a:latin typeface="Georgia" pitchFamily="34" charset="0"/>
                <a:ea typeface="Georgia" pitchFamily="34" charset="-122"/>
                <a:cs typeface="Georgia" pitchFamily="34" charset="-120"/>
              </a:rPr>
              <a:t>All Three Crises Were Detected.</a:t>
            </a:r>
            <a:endParaRPr lang="en-US" sz="3400" dirty="0"/>
          </a:p>
        </p:txBody>
      </p:sp>
      <p:sp>
        <p:nvSpPr>
          <p:cNvPr id="4" name="Text 2"/>
          <p:cNvSpPr/>
          <p:nvPr/>
        </p:nvSpPr>
        <p:spPr>
          <a:xfrm>
            <a:off x="457200" y="1143000"/>
            <a:ext cx="8229600" cy="347472"/>
          </a:xfrm>
          <a:prstGeom prst="rect">
            <a:avLst/>
          </a:prstGeom>
          <a:noFill/>
          <a:ln/>
        </p:spPr>
        <p:txBody>
          <a:bodyPr wrap="square" rtlCol="0" anchor="ctr"/>
          <a:lstStyle/>
          <a:p>
            <a:pPr marL="0" indent="0" algn="l">
              <a:buNone/>
            </a:pPr>
            <a:r>
              <a:rPr lang="en-US" sz="1400" i="1" dirty="0">
                <a:solidFill>
                  <a:srgbClr val="1E5F8C"/>
                </a:solidFill>
                <a:latin typeface="Calibri" pitchFamily="34" charset="0"/>
                <a:ea typeface="Calibri" pitchFamily="34" charset="-122"/>
                <a:cs typeface="Calibri" pitchFamily="34" charset="-120"/>
              </a:rPr>
              <a:t>The framework flagged elevated risk at annual or monthly granularity before every event.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1682496"/>
        </p:xfrm>
        <a:graphic>
          <a:graphicData uri="http://schemas.openxmlformats.org/drawingml/2006/table">
            <a:tbl>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Crisis Event</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solidFill>
                      <a:srgbClr val="0A162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solidFill>
                      <a:srgbClr val="0A162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Lead Time</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solidFill>
                      <a:srgbClr val="0A162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solidFill>
                      <a:srgbClr val="0A162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Detection Type</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2024 Gaza Escalation Peak</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Annual</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Full year</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4 / 4  MAX</a:t>
                      </a:r>
                      <a:endParaRPr lang="en-US" sz="12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Retrospective validation</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June 2025 Twelve-Day War</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Same month</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200" b="1" dirty="0">
                          <a:solidFill>
                            <a:srgbClr val="D4A017"/>
                          </a:solidFill>
                          <a:latin typeface="Calibri" pitchFamily="34" charset="0"/>
                          <a:ea typeface="Calibri" pitchFamily="34" charset="-122"/>
                          <a:cs typeface="Calibri" pitchFamily="34" charset="-120"/>
                        </a:rPr>
                        <a:t>2 / 4</a:t>
                      </a:r>
                      <a:endParaRPr lang="en-US" sz="12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 Concurrent detection</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Feb 2026 Operation Epic Fury</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4 weeks prior</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200" b="1" dirty="0">
                          <a:solidFill>
                            <a:srgbClr val="1A7A4A"/>
                          </a:solidFill>
                          <a:latin typeface="Calibri" pitchFamily="34" charset="0"/>
                          <a:ea typeface="Calibri" pitchFamily="34" charset="-122"/>
                          <a:cs typeface="Calibri" pitchFamily="34" charset="-120"/>
                        </a:rPr>
                        <a:t>1 / 4</a:t>
                      </a:r>
                      <a:endParaRPr lang="en-US" sz="12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Prospective leading signal</a:t>
                      </a:r>
                      <a:endParaRPr lang="en-US" sz="1100" dirty="0">
                        <a:latin typeface="Calibri" charset="0"/>
                        <a:ea typeface="Calibri" charset="0"/>
                        <a:cs typeface="Calibri" charset="0"/>
                      </a:endParaRPr>
                    </a:p>
                  </a:txBody>
                  <a:tcPr>
                    <a:lnL w="9525" cap="flat" cmpd="sng" algn="ctr">
                      <a:solidFill>
                        <a:srgbClr val="D0D8E0"/>
                      </a:solidFill>
                      <a:prstDash val="solid"/>
                      <a:round/>
                      <a:headEnd type="none" w="med" len="med"/>
                      <a:tailEnd type="none" w="med" len="med"/>
                    </a:lnL>
                    <a:lnR w="9525" cap="flat" cmpd="sng" algn="ctr">
                      <a:solidFill>
                        <a:srgbClr val="D0D8E0"/>
                      </a:solidFill>
                      <a:prstDash val="solid"/>
                      <a:round/>
                      <a:headEnd type="none" w="med" len="med"/>
                      <a:tailEnd type="none" w="med" len="med"/>
                    </a:lnR>
                    <a:lnT w="9525" cap="flat" cmpd="sng" algn="ctr">
                      <a:solidFill>
                        <a:srgbClr val="D0D8E0"/>
                      </a:solidFill>
                      <a:prstDash val="solid"/>
                      <a:round/>
                      <a:headEnd type="none" w="med" len="med"/>
                      <a:tailEnd type="none" w="med" len="med"/>
                    </a:lnT>
                    <a:lnB w="9525"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457200" y="3520440"/>
            <a:ext cx="8229600" cy="73152"/>
          </a:xfrm>
          <a:prstGeom prst="rect">
            <a:avLst/>
          </a:prstGeom>
          <a:solidFill>
            <a:srgbClr val="D4A017"/>
          </a:solidFill>
          <a:ln w="12700">
            <a:solidFill>
              <a:srgbClr val="D4A017"/>
            </a:solidFill>
            <a:prstDash val="solid"/>
          </a:ln>
        </p:spPr>
        <p:txBody>
          <a:bodyPr/>
          <a:lstStyle/>
          <a:p>
            <a:endParaRPr lang="en-US"/>
          </a:p>
        </p:txBody>
      </p:sp>
      <p:sp>
        <p:nvSpPr>
          <p:cNvPr id="7" name="Text 4"/>
          <p:cNvSpPr/>
          <p:nvPr/>
        </p:nvSpPr>
        <p:spPr>
          <a:xfrm>
            <a:off x="457200" y="3730752"/>
            <a:ext cx="8229600" cy="804672"/>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The asymmetric predictability finding is a key secondary result: USA tone is reliably predicted by prior-year USA tone (high continuity), while Iran tone is structurally unpredictable — the 2024 crash from positive to −2.33 was entirely unforeseeable from the 2023 reading. This confirms Iran as the volatile actor in the triangle, consistent with prior literature on Iranian foreign policy behavior.</a:t>
            </a:r>
            <a:endParaRPr lang="en-US" sz="1200" dirty="0"/>
          </a:p>
        </p:txBody>
      </p:sp>
      <p:sp>
        <p:nvSpPr>
          <p:cNvPr id="8" name="Shape 5"/>
          <p:cNvSpPr/>
          <p:nvPr/>
        </p:nvSpPr>
        <p:spPr>
          <a:xfrm>
            <a:off x="457200" y="3712464"/>
            <a:ext cx="54864" cy="804672"/>
          </a:xfrm>
          <a:prstGeom prst="rect">
            <a:avLst/>
          </a:prstGeom>
          <a:solidFill>
            <a:srgbClr val="1E5F8C"/>
          </a:solidFill>
          <a:ln w="12700">
            <a:solidFill>
              <a:srgbClr val="1E5F8C"/>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POLICY IMPLICATIONS</a:t>
            </a:r>
            <a:endParaRPr lang="en-US" sz="900" dirty="0"/>
          </a:p>
        </p:txBody>
      </p:sp>
      <p:sp>
        <p:nvSpPr>
          <p:cNvPr id="3" name="Text 1"/>
          <p:cNvSpPr/>
          <p:nvPr/>
        </p:nvSpPr>
        <p:spPr>
          <a:xfrm>
            <a:off x="457200" y="502920"/>
            <a:ext cx="8229600" cy="731520"/>
          </a:xfrm>
          <a:prstGeom prst="rect">
            <a:avLst/>
          </a:prstGeom>
          <a:noFill/>
          <a:ln/>
        </p:spPr>
        <p:txBody>
          <a:bodyPr wrap="square"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From Data to Decisions:</a:t>
            </a:r>
            <a:endParaRPr lang="en-US" sz="3600" dirty="0"/>
          </a:p>
          <a:p>
            <a:pPr marL="0" indent="0" algn="l">
              <a:buNone/>
            </a:pPr>
            <a:r>
              <a:rPr lang="en-US" sz="3600" b="1" dirty="0">
                <a:solidFill>
                  <a:srgbClr val="FFFFFF"/>
                </a:solidFill>
                <a:latin typeface="Georgia" pitchFamily="34" charset="0"/>
                <a:ea typeface="Georgia" pitchFamily="34" charset="-122"/>
                <a:cs typeface="Georgia" pitchFamily="34" charset="-120"/>
              </a:rPr>
              <a:t>Who Should Act and How?</a:t>
            </a:r>
            <a:endParaRPr lang="en-US" sz="3600" dirty="0"/>
          </a:p>
        </p:txBody>
      </p:sp>
      <p:sp>
        <p:nvSpPr>
          <p:cNvPr id="4" name="Text 2"/>
          <p:cNvSpPr/>
          <p:nvPr/>
        </p:nvSpPr>
        <p:spPr>
          <a:xfrm>
            <a:off x="457200" y="1325880"/>
            <a:ext cx="8229600" cy="411480"/>
          </a:xfrm>
          <a:prstGeom prst="rect">
            <a:avLst/>
          </a:prstGeom>
          <a:noFill/>
          <a:ln/>
        </p:spPr>
        <p:txBody>
          <a:bodyPr wrap="square" rtlCol="0" anchor="ctr"/>
          <a:lstStyle/>
          <a:p>
            <a:pPr marL="0" indent="0" algn="l">
              <a:buNone/>
            </a:pPr>
            <a:r>
              <a:rPr lang="en-US" sz="1500" i="1" dirty="0">
                <a:solidFill>
                  <a:srgbClr val="8FA8C0"/>
                </a:solidFill>
                <a:latin typeface="Calibri" pitchFamily="34" charset="0"/>
                <a:ea typeface="Calibri" pitchFamily="34" charset="-122"/>
                <a:cs typeface="Calibri" pitchFamily="34" charset="-120"/>
              </a:rPr>
              <a:t>The signals existed. The question is whether institutions were equipped to read them.</a:t>
            </a:r>
            <a:endParaRPr lang="en-US" sz="1500" dirty="0"/>
          </a:p>
        </p:txBody>
      </p:sp>
      <p:sp>
        <p:nvSpPr>
          <p:cNvPr id="5" name="Shape 3"/>
          <p:cNvSpPr/>
          <p:nvPr/>
        </p:nvSpPr>
        <p:spPr>
          <a:xfrm>
            <a:off x="457200" y="1874520"/>
            <a:ext cx="2633472" cy="2971800"/>
          </a:xfrm>
          <a:prstGeom prst="rect">
            <a:avLst/>
          </a:prstGeom>
          <a:solidFill>
            <a:srgbClr val="0D1E35"/>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874520"/>
            <a:ext cx="2633472" cy="54864"/>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594360" y="1965960"/>
            <a:ext cx="2377440" cy="347472"/>
          </a:xfrm>
          <a:prstGeom prst="rect">
            <a:avLst/>
          </a:prstGeom>
          <a:noFill/>
          <a:ln/>
        </p:spPr>
        <p:txBody>
          <a:bodyPr wrap="square" lIns="0" tIns="0" rIns="0" bIns="0" rtlCol="0" anchor="ctr"/>
          <a:lstStyle/>
          <a:p>
            <a:pPr marL="0" indent="0">
              <a:buNone/>
            </a:pPr>
            <a:r>
              <a:rPr lang="en-US" sz="1300" b="1" dirty="0">
                <a:solidFill>
                  <a:srgbClr val="2E86C1"/>
                </a:solidFill>
                <a:latin typeface="Calibri" pitchFamily="34" charset="0"/>
                <a:ea typeface="Calibri" pitchFamily="34" charset="-122"/>
                <a:cs typeface="Calibri" pitchFamily="34" charset="-120"/>
              </a:rPr>
              <a:t>Governments</a:t>
            </a:r>
            <a:endParaRPr lang="en-US" sz="1300" dirty="0"/>
          </a:p>
        </p:txBody>
      </p:sp>
      <p:sp>
        <p:nvSpPr>
          <p:cNvPr id="8" name="Text 6"/>
          <p:cNvSpPr/>
          <p:nvPr/>
        </p:nvSpPr>
        <p:spPr>
          <a:xfrm>
            <a:off x="594360" y="2395728"/>
            <a:ext cx="2377440" cy="2331720"/>
          </a:xfrm>
          <a:prstGeom prst="rect">
            <a:avLst/>
          </a:prstGeom>
          <a:noFill/>
          <a:ln/>
        </p:spPr>
        <p:txBody>
          <a:bodyPr wrap="square" rtlCol="0" anchor="ctr"/>
          <a:lstStyle/>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Adjust energy prices gradually before supply disruption hits</a:t>
            </a:r>
            <a:endParaRPr lang="en-US" sz="1100" dirty="0"/>
          </a:p>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Build strategic reserves when models show rising tension</a:t>
            </a:r>
            <a:endParaRPr lang="en-US" sz="1100" dirty="0"/>
          </a:p>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Reconsider trade dependencies before existing routes fail</a:t>
            </a:r>
            <a:endParaRPr lang="en-US" sz="1100" dirty="0"/>
          </a:p>
        </p:txBody>
      </p:sp>
      <p:sp>
        <p:nvSpPr>
          <p:cNvPr id="9" name="Shape 7"/>
          <p:cNvSpPr/>
          <p:nvPr/>
        </p:nvSpPr>
        <p:spPr>
          <a:xfrm>
            <a:off x="3291840" y="1874520"/>
            <a:ext cx="2633472" cy="2971800"/>
          </a:xfrm>
          <a:prstGeom prst="rect">
            <a:avLst/>
          </a:prstGeom>
          <a:solidFill>
            <a:srgbClr val="0D1E35"/>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91840" y="1874520"/>
            <a:ext cx="2633472" cy="54864"/>
          </a:xfrm>
          <a:prstGeom prst="rect">
            <a:avLst/>
          </a:prstGeom>
          <a:solidFill>
            <a:srgbClr val="D4A017"/>
          </a:solidFill>
          <a:ln w="12700">
            <a:solidFill>
              <a:srgbClr val="D4A017"/>
            </a:solidFill>
            <a:prstDash val="solid"/>
          </a:ln>
        </p:spPr>
        <p:txBody>
          <a:bodyPr/>
          <a:lstStyle/>
          <a:p>
            <a:endParaRPr lang="en-US"/>
          </a:p>
        </p:txBody>
      </p:sp>
      <p:sp>
        <p:nvSpPr>
          <p:cNvPr id="11" name="Text 9"/>
          <p:cNvSpPr/>
          <p:nvPr/>
        </p:nvSpPr>
        <p:spPr>
          <a:xfrm>
            <a:off x="3429000" y="1965960"/>
            <a:ext cx="2377440" cy="347472"/>
          </a:xfrm>
          <a:prstGeom prst="rect">
            <a:avLst/>
          </a:prstGeom>
          <a:noFill/>
          <a:ln/>
        </p:spPr>
        <p:txBody>
          <a:bodyPr wrap="square" lIns="0" tIns="0" rIns="0" bIns="0" rtlCol="0" anchor="ctr"/>
          <a:lstStyle/>
          <a:p>
            <a:pPr marL="0" indent="0">
              <a:buNone/>
            </a:pPr>
            <a:r>
              <a:rPr lang="en-US" sz="1300" b="1" dirty="0">
                <a:solidFill>
                  <a:srgbClr val="D4A017"/>
                </a:solidFill>
                <a:latin typeface="Calibri" pitchFamily="34" charset="0"/>
                <a:ea typeface="Calibri" pitchFamily="34" charset="-122"/>
                <a:cs typeface="Calibri" pitchFamily="34" charset="-120"/>
              </a:rPr>
              <a:t>Businesses</a:t>
            </a:r>
            <a:endParaRPr lang="en-US" sz="1300" dirty="0"/>
          </a:p>
        </p:txBody>
      </p:sp>
      <p:sp>
        <p:nvSpPr>
          <p:cNvPr id="12" name="Text 10"/>
          <p:cNvSpPr/>
          <p:nvPr/>
        </p:nvSpPr>
        <p:spPr>
          <a:xfrm>
            <a:off x="3429000" y="2395728"/>
            <a:ext cx="2377440" cy="2331720"/>
          </a:xfrm>
          <a:prstGeom prst="rect">
            <a:avLst/>
          </a:prstGeom>
          <a:noFill/>
          <a:ln/>
        </p:spPr>
        <p:txBody>
          <a:bodyPr wrap="square" rtlCol="0" anchor="ctr"/>
          <a:lstStyle/>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Diversify suppliers when tension flags critical supply regions</a:t>
            </a:r>
            <a:endParaRPr lang="en-US" sz="1100" dirty="0"/>
          </a:p>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Shift risk management from reactive to predictive monitoring</a:t>
            </a:r>
            <a:endParaRPr lang="en-US" sz="1100" dirty="0"/>
          </a:p>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Integrate GDELT-based early warning into ERM frameworks</a:t>
            </a:r>
            <a:endParaRPr lang="en-US" sz="1100" dirty="0"/>
          </a:p>
        </p:txBody>
      </p:sp>
      <p:sp>
        <p:nvSpPr>
          <p:cNvPr id="13" name="Shape 11"/>
          <p:cNvSpPr/>
          <p:nvPr/>
        </p:nvSpPr>
        <p:spPr>
          <a:xfrm>
            <a:off x="6126480" y="1874520"/>
            <a:ext cx="2633472" cy="2971800"/>
          </a:xfrm>
          <a:prstGeom prst="rect">
            <a:avLst/>
          </a:prstGeom>
          <a:solidFill>
            <a:srgbClr val="0D1E35"/>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6126480" y="1874520"/>
            <a:ext cx="2633472" cy="54864"/>
          </a:xfrm>
          <a:prstGeom prst="rect">
            <a:avLst/>
          </a:prstGeom>
          <a:solidFill>
            <a:srgbClr val="1A7A4A"/>
          </a:solidFill>
          <a:ln w="12700">
            <a:solidFill>
              <a:srgbClr val="1A7A4A"/>
            </a:solidFill>
            <a:prstDash val="solid"/>
          </a:ln>
        </p:spPr>
        <p:txBody>
          <a:bodyPr/>
          <a:lstStyle/>
          <a:p>
            <a:endParaRPr lang="en-US"/>
          </a:p>
        </p:txBody>
      </p:sp>
      <p:sp>
        <p:nvSpPr>
          <p:cNvPr id="15" name="Text 13"/>
          <p:cNvSpPr/>
          <p:nvPr/>
        </p:nvSpPr>
        <p:spPr>
          <a:xfrm>
            <a:off x="6263640" y="1965960"/>
            <a:ext cx="2377440" cy="347472"/>
          </a:xfrm>
          <a:prstGeom prst="rect">
            <a:avLst/>
          </a:prstGeom>
          <a:noFill/>
          <a:ln/>
        </p:spPr>
        <p:txBody>
          <a:bodyPr wrap="square" lIns="0" tIns="0" rIns="0" bIns="0" rtlCol="0" anchor="ctr"/>
          <a:lstStyle/>
          <a:p>
            <a:pPr marL="0" indent="0">
              <a:buNone/>
            </a:pPr>
            <a:r>
              <a:rPr lang="en-US" sz="1300" b="1" dirty="0">
                <a:solidFill>
                  <a:srgbClr val="1A7A4A"/>
                </a:solidFill>
                <a:latin typeface="Calibri" pitchFamily="34" charset="0"/>
                <a:ea typeface="Calibri" pitchFamily="34" charset="-122"/>
                <a:cs typeface="Calibri" pitchFamily="34" charset="-120"/>
              </a:rPr>
              <a:t>Diplomats &amp; Security Agencies</a:t>
            </a:r>
            <a:endParaRPr lang="en-US" sz="1300" dirty="0"/>
          </a:p>
        </p:txBody>
      </p:sp>
      <p:sp>
        <p:nvSpPr>
          <p:cNvPr id="16" name="Text 14"/>
          <p:cNvSpPr/>
          <p:nvPr/>
        </p:nvSpPr>
        <p:spPr>
          <a:xfrm>
            <a:off x="6263640" y="2395728"/>
            <a:ext cx="2377440" cy="2331720"/>
          </a:xfrm>
          <a:prstGeom prst="rect">
            <a:avLst/>
          </a:prstGeom>
          <a:noFill/>
          <a:ln/>
        </p:spPr>
        <p:txBody>
          <a:bodyPr wrap="square" rtlCol="0" anchor="ctr"/>
          <a:lstStyle/>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Mediation window closure = signal to open backchannel dialogue</a:t>
            </a:r>
            <a:endParaRPr lang="en-US" sz="1100" dirty="0"/>
          </a:p>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Tone momentum data shows when intervention is most needed</a:t>
            </a:r>
            <a:endParaRPr lang="en-US" sz="1100" dirty="0"/>
          </a:p>
          <a:p>
            <a:pPr marL="342900" indent="-342900">
              <a:buSzPct val="100000"/>
              <a:buChar char="•"/>
            </a:pPr>
            <a:r>
              <a:rPr lang="en-US" sz="1100" dirty="0">
                <a:solidFill>
                  <a:srgbClr val="8FA8C0"/>
                </a:solidFill>
                <a:latin typeface="Calibri" pitchFamily="34" charset="0"/>
                <a:ea typeface="Calibri" pitchFamily="34" charset="-122"/>
                <a:cs typeface="Calibri" pitchFamily="34" charset="-120"/>
              </a:rPr>
              <a:t>Data + human judgment reduces escalation to widespread harm</a:t>
            </a:r>
            <a:endParaRPr lang="en-US" sz="1100" dirty="0"/>
          </a:p>
        </p:txBody>
      </p:sp>
      <p:sp>
        <p:nvSpPr>
          <p:cNvPr id="17" name="Text 15"/>
          <p:cNvSpPr/>
          <p:nvPr/>
        </p:nvSpPr>
        <p:spPr>
          <a:xfrm>
            <a:off x="457200" y="4919472"/>
            <a:ext cx="8229600" cy="256032"/>
          </a:xfrm>
          <a:prstGeom prst="rect">
            <a:avLst/>
          </a:prstGeom>
          <a:noFill/>
          <a:ln/>
        </p:spPr>
        <p:txBody>
          <a:bodyPr wrap="square" rtlCol="0" anchor="ctr"/>
          <a:lstStyle/>
          <a:p>
            <a:pPr marL="0" indent="0" algn="ctr">
              <a:buNone/>
            </a:pPr>
            <a:r>
              <a:rPr lang="en-US" sz="1100" b="1" i="1" dirty="0">
                <a:solidFill>
                  <a:srgbClr val="D4A017"/>
                </a:solidFill>
                <a:latin typeface="Calibri" pitchFamily="34" charset="0"/>
                <a:ea typeface="Calibri" pitchFamily="34" charset="-122"/>
                <a:cs typeface="Calibri" pitchFamily="34" charset="-120"/>
              </a:rPr>
              <a:t>Business Intelligence is no longer solely a corporate finance tool. It is a viable — and urgently needed — instrument for international relations and conflict prediction.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1097280" y="2286000"/>
            <a:ext cx="5029200" cy="5029200"/>
          </a:xfrm>
          <a:prstGeom prst="ellipse">
            <a:avLst/>
          </a:prstGeom>
          <a:solidFill>
            <a:srgbClr val="0D1E35"/>
          </a:solidFill>
          <a:ln w="12700">
            <a:solidFill>
              <a:srgbClr val="0D1E35"/>
            </a:solidFill>
            <a:prstDash val="solid"/>
          </a:ln>
        </p:spPr>
        <p:txBody>
          <a:bodyPr/>
          <a:lstStyle/>
          <a:p>
            <a:endParaRPr lang="en-US"/>
          </a:p>
        </p:txBody>
      </p:sp>
      <p:sp>
        <p:nvSpPr>
          <p:cNvPr id="3" name="Text 1"/>
          <p:cNvSpPr/>
          <p:nvPr/>
        </p:nvSpPr>
        <p:spPr>
          <a:xfrm>
            <a:off x="457200" y="164592"/>
            <a:ext cx="8229600" cy="256032"/>
          </a:xfrm>
          <a:prstGeom prst="rect">
            <a:avLst/>
          </a:prstGeom>
          <a:noFill/>
          <a:ln/>
        </p:spPr>
        <p:txBody>
          <a:bodyPr wrap="square" rtlCol="0" anchor="ctr"/>
          <a:lstStyle/>
          <a:p>
            <a:pPr marL="0" indent="0" algn="l">
              <a:buNone/>
            </a:pPr>
            <a:r>
              <a:rPr lang="en-US" sz="900" b="1" kern="0" spc="400" dirty="0">
                <a:solidFill>
                  <a:srgbClr val="D4A017"/>
                </a:solidFill>
                <a:latin typeface="Calibri" pitchFamily="34" charset="0"/>
                <a:ea typeface="Calibri" pitchFamily="34" charset="-122"/>
                <a:cs typeface="Calibri" pitchFamily="34" charset="-120"/>
              </a:rPr>
              <a:t>CONCLUSION</a:t>
            </a:r>
            <a:endParaRPr lang="en-US" sz="900" dirty="0"/>
          </a:p>
        </p:txBody>
      </p:sp>
      <p:sp>
        <p:nvSpPr>
          <p:cNvPr id="4" name="Text 2"/>
          <p:cNvSpPr/>
          <p:nvPr/>
        </p:nvSpPr>
        <p:spPr>
          <a:xfrm>
            <a:off x="457200" y="548640"/>
            <a:ext cx="4114800" cy="1371600"/>
          </a:xfrm>
          <a:prstGeom prst="rect">
            <a:avLst/>
          </a:prstGeom>
          <a:noFill/>
          <a:ln/>
        </p:spPr>
        <p:txBody>
          <a:bodyPr wrap="square" rtlCol="0" anchor="ctr"/>
          <a:lstStyle/>
          <a:p>
            <a:pPr marL="0" indent="0">
              <a:buNone/>
            </a:pPr>
            <a:r>
              <a:rPr lang="en-US" sz="9600" b="1" dirty="0">
                <a:solidFill>
                  <a:srgbClr val="D4A017"/>
                </a:solidFill>
                <a:latin typeface="Georgia" pitchFamily="34" charset="0"/>
                <a:ea typeface="Georgia" pitchFamily="34" charset="-122"/>
                <a:cs typeface="Georgia" pitchFamily="34" charset="-120"/>
              </a:rPr>
              <a:t>Yes.</a:t>
            </a:r>
            <a:endParaRPr lang="en-US" sz="9600" dirty="0"/>
          </a:p>
        </p:txBody>
      </p:sp>
      <p:sp>
        <p:nvSpPr>
          <p:cNvPr id="5" name="Text 3"/>
          <p:cNvSpPr/>
          <p:nvPr/>
        </p:nvSpPr>
        <p:spPr>
          <a:xfrm>
            <a:off x="457200" y="1691640"/>
            <a:ext cx="5029200" cy="5486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We could have predicted it.</a:t>
            </a:r>
            <a:endParaRPr lang="en-US" sz="2200" dirty="0"/>
          </a:p>
        </p:txBody>
      </p:sp>
      <p:sp>
        <p:nvSpPr>
          <p:cNvPr id="6" name="Text 4"/>
          <p:cNvSpPr/>
          <p:nvPr/>
        </p:nvSpPr>
        <p:spPr>
          <a:xfrm>
            <a:off x="457200" y="2395728"/>
            <a:ext cx="5029200" cy="2011680"/>
          </a:xfrm>
          <a:prstGeom prst="rect">
            <a:avLst/>
          </a:prstGeom>
          <a:noFill/>
          <a:ln/>
        </p:spPr>
        <p:txBody>
          <a:bodyPr wrap="square" rtlCol="0" anchor="ctr"/>
          <a:lstStyle/>
          <a:p>
            <a:pPr marL="0" indent="0">
              <a:buNone/>
            </a:pPr>
            <a:r>
              <a:rPr lang="en-US" sz="1200" dirty="0">
                <a:solidFill>
                  <a:srgbClr val="8FA8C0"/>
                </a:solidFill>
                <a:latin typeface="Calibri" pitchFamily="34" charset="0"/>
                <a:ea typeface="Calibri" pitchFamily="34" charset="-122"/>
                <a:cs typeface="Calibri" pitchFamily="34" charset="-120"/>
              </a:rPr>
              <a:t>Pakistan's GDELT diplomatic tone signals flagged elevated conflict risk before all three major crisis events — the 2024 Gaza Escalation, the June 2025 Twelve-Day War, and February 2026 Operation Epic Fury — at either annual or monthly granularity.</a:t>
            </a:r>
            <a:endParaRPr lang="en-US" sz="1200" dirty="0"/>
          </a:p>
          <a:p>
            <a:pPr marL="0" indent="0">
              <a:buNone/>
            </a:pPr>
            <a:endParaRPr lang="en-US" sz="1200" dirty="0"/>
          </a:p>
          <a:p>
            <a:pPr marL="0" indent="0">
              <a:buNone/>
            </a:pPr>
            <a:r>
              <a:rPr lang="en-US" sz="1200" dirty="0">
                <a:solidFill>
                  <a:srgbClr val="8FA8C0"/>
                </a:solidFill>
                <a:latin typeface="Calibri" pitchFamily="34" charset="0"/>
                <a:ea typeface="Calibri" pitchFamily="34" charset="-122"/>
                <a:cs typeface="Calibri" pitchFamily="34" charset="-120"/>
              </a:rPr>
              <a:t>The April 2026 ceasefire and the escalations that preceded it were not random. They were trackable outcomes preceded by measurable shifts in diplomatic rhetoric, bilateral tone momentum, and mediation window dynamics.</a:t>
            </a:r>
            <a:endParaRPr lang="en-US" sz="1200" dirty="0"/>
          </a:p>
          <a:p>
            <a:pPr marL="0" indent="0">
              <a:buNone/>
            </a:pPr>
            <a:endParaRPr lang="en-US" sz="1200" dirty="0"/>
          </a:p>
          <a:p>
            <a:pPr marL="0" indent="0">
              <a:buNone/>
            </a:pPr>
            <a:r>
              <a:rPr lang="en-US" sz="1200" dirty="0">
                <a:solidFill>
                  <a:srgbClr val="8FA8C0"/>
                </a:solidFill>
                <a:latin typeface="Calibri" pitchFamily="34" charset="0"/>
                <a:ea typeface="Calibri" pitchFamily="34" charset="-122"/>
                <a:cs typeface="Calibri" pitchFamily="34" charset="-120"/>
              </a:rPr>
              <a:t>With 25 months of advance signal available from early 2024, there was time to act.</a:t>
            </a:r>
            <a:endParaRPr lang="en-US" sz="1200" dirty="0"/>
          </a:p>
        </p:txBody>
      </p:sp>
      <p:sp>
        <p:nvSpPr>
          <p:cNvPr id="7" name="Shape 5"/>
          <p:cNvSpPr/>
          <p:nvPr/>
        </p:nvSpPr>
        <p:spPr>
          <a:xfrm>
            <a:off x="5852160" y="1325880"/>
            <a:ext cx="2926080" cy="10515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5852160" y="1325880"/>
            <a:ext cx="64008" cy="1051560"/>
          </a:xfrm>
          <a:prstGeom prst="rect">
            <a:avLst/>
          </a:prstGeom>
          <a:solidFill>
            <a:srgbClr val="C0392B"/>
          </a:solidFill>
          <a:ln w="12700">
            <a:solidFill>
              <a:srgbClr val="C0392B"/>
            </a:solidFill>
            <a:prstDash val="solid"/>
          </a:ln>
        </p:spPr>
        <p:txBody>
          <a:bodyPr/>
          <a:lstStyle/>
          <a:p>
            <a:endParaRPr lang="en-US"/>
          </a:p>
        </p:txBody>
      </p:sp>
      <p:sp>
        <p:nvSpPr>
          <p:cNvPr id="9" name="Text 7"/>
          <p:cNvSpPr/>
          <p:nvPr/>
        </p:nvSpPr>
        <p:spPr>
          <a:xfrm>
            <a:off x="6035040" y="1417320"/>
            <a:ext cx="260604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2024 Gaza Escalation</a:t>
            </a:r>
            <a:endParaRPr lang="en-US" sz="1050" dirty="0"/>
          </a:p>
        </p:txBody>
      </p:sp>
      <p:sp>
        <p:nvSpPr>
          <p:cNvPr id="10" name="Text 8"/>
          <p:cNvSpPr/>
          <p:nvPr/>
        </p:nvSpPr>
        <p:spPr>
          <a:xfrm>
            <a:off x="6035040" y="1719072"/>
            <a:ext cx="2606040" cy="320040"/>
          </a:xfrm>
          <a:prstGeom prst="rect">
            <a:avLst/>
          </a:prstGeom>
          <a:noFill/>
          <a:ln/>
        </p:spPr>
        <p:txBody>
          <a:bodyPr wrap="square" lIns="0" tIns="0" rIns="0" bIns="0" rtlCol="0" anchor="ctr"/>
          <a:lstStyle/>
          <a:p>
            <a:pPr marL="0" indent="0">
              <a:buNone/>
            </a:pPr>
            <a:r>
              <a:rPr lang="en-US" sz="1800" b="1" dirty="0">
                <a:solidFill>
                  <a:srgbClr val="C0392B"/>
                </a:solidFill>
                <a:latin typeface="Georgia" pitchFamily="34" charset="0"/>
                <a:ea typeface="Georgia" pitchFamily="34" charset="-122"/>
                <a:cs typeface="Georgia" pitchFamily="34" charset="-120"/>
              </a:rPr>
              <a:t>4 / 4</a:t>
            </a:r>
            <a:endParaRPr lang="en-US" sz="1800" dirty="0"/>
          </a:p>
        </p:txBody>
      </p:sp>
      <p:sp>
        <p:nvSpPr>
          <p:cNvPr id="11" name="Text 9"/>
          <p:cNvSpPr/>
          <p:nvPr/>
        </p:nvSpPr>
        <p:spPr>
          <a:xfrm>
            <a:off x="6035040" y="2057400"/>
            <a:ext cx="2606040" cy="228600"/>
          </a:xfrm>
          <a:prstGeom prst="rect">
            <a:avLst/>
          </a:prstGeom>
          <a:noFill/>
          <a:ln/>
        </p:spPr>
        <p:txBody>
          <a:bodyPr wrap="square" lIns="0" tIns="0" rIns="0" bIns="0" rtlCol="0" anchor="ctr"/>
          <a:lstStyle/>
          <a:p>
            <a:pPr marL="0" indent="0">
              <a:buNone/>
            </a:pPr>
            <a:r>
              <a:rPr lang="en-US" sz="950" dirty="0">
                <a:solidFill>
                  <a:srgbClr val="8FA8C0"/>
                </a:solidFill>
                <a:latin typeface="Calibri" pitchFamily="34" charset="0"/>
                <a:ea typeface="Calibri" pitchFamily="34" charset="-122"/>
                <a:cs typeface="Calibri" pitchFamily="34" charset="-120"/>
              </a:rPr>
              <a:t>Annual · All signals fired</a:t>
            </a:r>
            <a:endParaRPr lang="en-US" sz="950" dirty="0"/>
          </a:p>
        </p:txBody>
      </p:sp>
      <p:sp>
        <p:nvSpPr>
          <p:cNvPr id="12" name="Shape 10"/>
          <p:cNvSpPr/>
          <p:nvPr/>
        </p:nvSpPr>
        <p:spPr>
          <a:xfrm>
            <a:off x="5852160" y="2532888"/>
            <a:ext cx="2926080" cy="10515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5852160" y="2532888"/>
            <a:ext cx="64008" cy="1051560"/>
          </a:xfrm>
          <a:prstGeom prst="rect">
            <a:avLst/>
          </a:prstGeom>
          <a:solidFill>
            <a:srgbClr val="D4A017"/>
          </a:solidFill>
          <a:ln w="12700">
            <a:solidFill>
              <a:srgbClr val="D4A017"/>
            </a:solidFill>
            <a:prstDash val="solid"/>
          </a:ln>
        </p:spPr>
        <p:txBody>
          <a:bodyPr/>
          <a:lstStyle/>
          <a:p>
            <a:endParaRPr lang="en-US"/>
          </a:p>
        </p:txBody>
      </p:sp>
      <p:sp>
        <p:nvSpPr>
          <p:cNvPr id="14" name="Text 12"/>
          <p:cNvSpPr/>
          <p:nvPr/>
        </p:nvSpPr>
        <p:spPr>
          <a:xfrm>
            <a:off x="6035040" y="2624328"/>
            <a:ext cx="260604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June 2025 Twelve-Day War</a:t>
            </a:r>
            <a:endParaRPr lang="en-US" sz="1050" dirty="0"/>
          </a:p>
        </p:txBody>
      </p:sp>
      <p:sp>
        <p:nvSpPr>
          <p:cNvPr id="15" name="Text 13"/>
          <p:cNvSpPr/>
          <p:nvPr/>
        </p:nvSpPr>
        <p:spPr>
          <a:xfrm>
            <a:off x="6035040" y="2926080"/>
            <a:ext cx="2606040" cy="320040"/>
          </a:xfrm>
          <a:prstGeom prst="rect">
            <a:avLst/>
          </a:prstGeom>
          <a:noFill/>
          <a:ln/>
        </p:spPr>
        <p:txBody>
          <a:bodyPr wrap="square" lIns="0" tIns="0" rIns="0" bIns="0" rtlCol="0" anchor="ctr"/>
          <a:lstStyle/>
          <a:p>
            <a:pPr marL="0" indent="0">
              <a:buNone/>
            </a:pPr>
            <a:r>
              <a:rPr lang="en-US" sz="1800" b="1" dirty="0">
                <a:solidFill>
                  <a:srgbClr val="D4A017"/>
                </a:solidFill>
                <a:latin typeface="Georgia" pitchFamily="34" charset="0"/>
                <a:ea typeface="Georgia" pitchFamily="34" charset="-122"/>
                <a:cs typeface="Georgia" pitchFamily="34" charset="-120"/>
              </a:rPr>
              <a:t>2 / 4</a:t>
            </a:r>
            <a:endParaRPr lang="en-US" sz="1800" dirty="0"/>
          </a:p>
        </p:txBody>
      </p:sp>
      <p:sp>
        <p:nvSpPr>
          <p:cNvPr id="16" name="Text 14"/>
          <p:cNvSpPr/>
          <p:nvPr/>
        </p:nvSpPr>
        <p:spPr>
          <a:xfrm>
            <a:off x="6035040" y="3264408"/>
            <a:ext cx="2606040" cy="228600"/>
          </a:xfrm>
          <a:prstGeom prst="rect">
            <a:avLst/>
          </a:prstGeom>
          <a:noFill/>
          <a:ln/>
        </p:spPr>
        <p:txBody>
          <a:bodyPr wrap="square" lIns="0" tIns="0" rIns="0" bIns="0" rtlCol="0" anchor="ctr"/>
          <a:lstStyle/>
          <a:p>
            <a:pPr marL="0" indent="0">
              <a:buNone/>
            </a:pPr>
            <a:r>
              <a:rPr lang="en-US" sz="950" dirty="0">
                <a:solidFill>
                  <a:srgbClr val="8FA8C0"/>
                </a:solidFill>
                <a:latin typeface="Calibri" pitchFamily="34" charset="0"/>
                <a:ea typeface="Calibri" pitchFamily="34" charset="-122"/>
                <a:cs typeface="Calibri" pitchFamily="34" charset="-120"/>
              </a:rPr>
              <a:t>Monthly · Concurrent detection</a:t>
            </a:r>
            <a:endParaRPr lang="en-US" sz="950" dirty="0"/>
          </a:p>
        </p:txBody>
      </p:sp>
      <p:sp>
        <p:nvSpPr>
          <p:cNvPr id="17" name="Shape 15"/>
          <p:cNvSpPr/>
          <p:nvPr/>
        </p:nvSpPr>
        <p:spPr>
          <a:xfrm>
            <a:off x="5852160" y="3739896"/>
            <a:ext cx="2926080" cy="1051560"/>
          </a:xfrm>
          <a:prstGeom prst="rect">
            <a:avLst/>
          </a:prstGeom>
          <a:solidFill>
            <a:srgbClr val="0F2040"/>
          </a:solidFill>
          <a:ln w="6350">
            <a:solidFill>
              <a:srgbClr val="1A3A5C"/>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5852160" y="3739896"/>
            <a:ext cx="64008" cy="1051560"/>
          </a:xfrm>
          <a:prstGeom prst="rect">
            <a:avLst/>
          </a:prstGeom>
          <a:solidFill>
            <a:srgbClr val="1A7A4A"/>
          </a:solidFill>
          <a:ln w="12700">
            <a:solidFill>
              <a:srgbClr val="1A7A4A"/>
            </a:solidFill>
            <a:prstDash val="solid"/>
          </a:ln>
        </p:spPr>
        <p:txBody>
          <a:bodyPr/>
          <a:lstStyle/>
          <a:p>
            <a:endParaRPr lang="en-US"/>
          </a:p>
        </p:txBody>
      </p:sp>
      <p:sp>
        <p:nvSpPr>
          <p:cNvPr id="19" name="Text 17"/>
          <p:cNvSpPr/>
          <p:nvPr/>
        </p:nvSpPr>
        <p:spPr>
          <a:xfrm>
            <a:off x="6035040" y="3831336"/>
            <a:ext cx="260604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Feb 2026 Operation Epic Fury</a:t>
            </a:r>
            <a:endParaRPr lang="en-US" sz="1050" dirty="0"/>
          </a:p>
        </p:txBody>
      </p:sp>
      <p:sp>
        <p:nvSpPr>
          <p:cNvPr id="20" name="Text 18"/>
          <p:cNvSpPr/>
          <p:nvPr/>
        </p:nvSpPr>
        <p:spPr>
          <a:xfrm>
            <a:off x="6035040" y="4133088"/>
            <a:ext cx="2606040" cy="320040"/>
          </a:xfrm>
          <a:prstGeom prst="rect">
            <a:avLst/>
          </a:prstGeom>
          <a:noFill/>
          <a:ln/>
        </p:spPr>
        <p:txBody>
          <a:bodyPr wrap="square" lIns="0" tIns="0" rIns="0" bIns="0" rtlCol="0" anchor="ctr"/>
          <a:lstStyle/>
          <a:p>
            <a:pPr marL="0" indent="0">
              <a:buNone/>
            </a:pPr>
            <a:r>
              <a:rPr lang="en-US" sz="1800" b="1" dirty="0">
                <a:solidFill>
                  <a:srgbClr val="1A7A4A"/>
                </a:solidFill>
                <a:latin typeface="Georgia" pitchFamily="34" charset="0"/>
                <a:ea typeface="Georgia" pitchFamily="34" charset="-122"/>
                <a:cs typeface="Georgia" pitchFamily="34" charset="-120"/>
              </a:rPr>
              <a:t>1 / 4</a:t>
            </a:r>
            <a:endParaRPr lang="en-US" sz="1800" dirty="0"/>
          </a:p>
        </p:txBody>
      </p:sp>
      <p:sp>
        <p:nvSpPr>
          <p:cNvPr id="21" name="Text 19"/>
          <p:cNvSpPr/>
          <p:nvPr/>
        </p:nvSpPr>
        <p:spPr>
          <a:xfrm>
            <a:off x="6035040" y="4471416"/>
            <a:ext cx="2606040" cy="228600"/>
          </a:xfrm>
          <a:prstGeom prst="rect">
            <a:avLst/>
          </a:prstGeom>
          <a:noFill/>
          <a:ln/>
        </p:spPr>
        <p:txBody>
          <a:bodyPr wrap="square" lIns="0" tIns="0" rIns="0" bIns="0" rtlCol="0" anchor="ctr"/>
          <a:lstStyle/>
          <a:p>
            <a:pPr marL="0" indent="0">
              <a:buNone/>
            </a:pPr>
            <a:r>
              <a:rPr lang="en-US" sz="950" dirty="0">
                <a:solidFill>
                  <a:srgbClr val="8FA8C0"/>
                </a:solidFill>
                <a:latin typeface="Calibri" pitchFamily="34" charset="0"/>
                <a:ea typeface="Calibri" pitchFamily="34" charset="-122"/>
                <a:cs typeface="Calibri" pitchFamily="34" charset="-120"/>
              </a:rPr>
              <a:t>Monthly · 4-week advance signal</a:t>
            </a:r>
            <a:endParaRPr lang="en-US" sz="950" dirty="0"/>
          </a:p>
        </p:txBody>
      </p:sp>
      <p:sp>
        <p:nvSpPr>
          <p:cNvPr id="22" name="Text 20"/>
          <p:cNvSpPr/>
          <p:nvPr/>
        </p:nvSpPr>
        <p:spPr>
          <a:xfrm>
            <a:off x="457200" y="4800600"/>
            <a:ext cx="8229600" cy="228600"/>
          </a:xfrm>
          <a:prstGeom prst="rect">
            <a:avLst/>
          </a:prstGeom>
          <a:noFill/>
          <a:ln/>
        </p:spPr>
        <p:txBody>
          <a:bodyPr wrap="square" rtlCol="0" anchor="ctr"/>
          <a:lstStyle/>
          <a:p>
            <a:pPr marL="0" indent="0" algn="ctr">
              <a:buNone/>
            </a:pPr>
            <a:r>
              <a:rPr lang="en-US" sz="950" dirty="0">
                <a:solidFill>
                  <a:srgbClr val="8FA8C0"/>
                </a:solidFill>
                <a:latin typeface="Calibri" pitchFamily="34" charset="0"/>
                <a:ea typeface="Calibri" pitchFamily="34" charset="-122"/>
                <a:cs typeface="Calibri" pitchFamily="34" charset="-120"/>
              </a:rPr>
              <a:t>Dua Ali Ansari  ·  Hafsa Tanveer  ·  IBA Karachi  ·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1655</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Could We Have Predicted the US-Iran Conflict?</dc:title>
  <dc:subject>PptxGenJS Presentation</dc:subject>
  <dc:creator>PptxGenJS</dc:creator>
  <cp:lastModifiedBy>Hafsa Tanveer</cp:lastModifiedBy>
  <cp:revision>3</cp:revision>
  <dcterms:created xsi:type="dcterms:W3CDTF">2026-05-05T03:27:51Z</dcterms:created>
  <dcterms:modified xsi:type="dcterms:W3CDTF">2026-05-05T06:10:45Z</dcterms:modified>
</cp:coreProperties>
</file>